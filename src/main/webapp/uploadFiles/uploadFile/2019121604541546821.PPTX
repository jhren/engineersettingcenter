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"/>
  </p:notesMasterIdLst>
  <p:handoutMasterIdLst>
    <p:handoutMasterId r:id="rId4"/>
  </p:handoutMasterIdLst>
  <p:sldIdLst>
    <p:sldId id="453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016" userDrawn="1">
          <p15:clr>
            <a:srgbClr val="A4A3A4"/>
          </p15:clr>
        </p15:guide>
        <p15:guide id="7" pos="3744" userDrawn="1">
          <p15:clr>
            <a:srgbClr val="A4A3A4"/>
          </p15:clr>
        </p15:guide>
        <p15:guide id="8" orient="horz" pos="21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96DC"/>
    <a:srgbClr val="556C8A"/>
    <a:srgbClr val="4F6481"/>
    <a:srgbClr val="225AA8"/>
    <a:srgbClr val="235BA9"/>
    <a:srgbClr val="3A5190"/>
    <a:srgbClr val="566C8A"/>
    <a:srgbClr val="4E6480"/>
    <a:srgbClr val="6599E0"/>
    <a:srgbClr val="235AA8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41" autoAdjust="0"/>
    <p:restoredTop sz="94684" autoAdjust="0"/>
  </p:normalViewPr>
  <p:slideViewPr>
    <p:cSldViewPr snapToGrid="0">
      <p:cViewPr>
        <p:scale>
          <a:sx n="100" d="100"/>
          <a:sy n="100" d="100"/>
        </p:scale>
        <p:origin x="702" y="30"/>
      </p:cViewPr>
      <p:guideLst>
        <p:guide pos="2016"/>
        <p:guide pos="3744"/>
        <p:guide orient="horz" pos="21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036" y="4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D:\Report\report-2013\weekly%20report\QE%20Weekly%20Report%202013\weekly%20report%20raw%20data%202013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D:\Report\report-2013\weekly%20report\QE%20Weekly%20Report%202013\weekly%20report%20raw%20data%202013.xls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D:\Report\report-2013\weekly%20report\QE%20Weekly%20Report%202013\weekly%20report%20raw%20data%202013.xls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D:\Report\report-2013\weekly%20report\QE%20Weekly%20Report%202013\weekly%20report%20raw%20data%202013.xls" TargetMode="External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'3C'!$A$9</c:f>
              <c:strCache>
                <c:ptCount val="1"/>
                <c:pt idx="0">
                  <c:v>CAR (#)</c:v>
                </c:pt>
              </c:strCache>
            </c:strRef>
          </c:tx>
          <c:invertIfNegative val="0"/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Jun-ww25</c:v>
                </c:pt>
                <c:pt idx="12">
                  <c:v>ww25</c:v>
                </c:pt>
              </c:strCache>
            </c:strRef>
          </c:cat>
          <c:val>
            <c:numRef>
              <c:f>'3C'!$B$9:$BD$9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2</c:v>
                </c:pt>
                <c:pt idx="11">
                  <c:v>3</c:v>
                </c:pt>
                <c:pt idx="12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4DD-42D6-A462-8E474A94B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3071064"/>
        <c:axId val="373070672"/>
      </c:barChart>
      <c:lineChart>
        <c:grouping val="standard"/>
        <c:varyColors val="0"/>
        <c:ser>
          <c:idx val="1"/>
          <c:order val="1"/>
          <c:tx>
            <c:strRef>
              <c:f>'3C'!$A$10</c:f>
              <c:strCache>
                <c:ptCount val="1"/>
                <c:pt idx="0">
                  <c:v>CAR( PPM)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Jun-ww25</c:v>
                </c:pt>
                <c:pt idx="12">
                  <c:v>ww25</c:v>
                </c:pt>
              </c:strCache>
            </c:strRef>
          </c:cat>
          <c:val>
            <c:numRef>
              <c:f>'3C'!$B$10:$BD$10</c:f>
              <c:numCache>
                <c:formatCode>0</c:formatCode>
                <c:ptCount val="13"/>
                <c:pt idx="0">
                  <c:v>362</c:v>
                </c:pt>
                <c:pt idx="1">
                  <c:v>245</c:v>
                </c:pt>
                <c:pt idx="2">
                  <c:v>313</c:v>
                </c:pt>
                <c:pt idx="3">
                  <c:v>140</c:v>
                </c:pt>
                <c:pt idx="4">
                  <c:v>56</c:v>
                </c:pt>
                <c:pt idx="5">
                  <c:v>146</c:v>
                </c:pt>
                <c:pt idx="6">
                  <c:v>190</c:v>
                </c:pt>
                <c:pt idx="7">
                  <c:v>176</c:v>
                </c:pt>
                <c:pt idx="8">
                  <c:v>84</c:v>
                </c:pt>
                <c:pt idx="9">
                  <c:v>0</c:v>
                </c:pt>
                <c:pt idx="10">
                  <c:v>118</c:v>
                </c:pt>
                <c:pt idx="11">
                  <c:v>166</c:v>
                </c:pt>
                <c:pt idx="12">
                  <c:v>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64DD-42D6-A462-8E474A94BF75}"/>
            </c:ext>
          </c:extLst>
        </c:ser>
        <c:ser>
          <c:idx val="2"/>
          <c:order val="2"/>
          <c:tx>
            <c:strRef>
              <c:f>'3C'!$A$11</c:f>
              <c:strCache>
                <c:ptCount val="1"/>
                <c:pt idx="0">
                  <c:v>CAR Goal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Jun-ww25</c:v>
                </c:pt>
                <c:pt idx="12">
                  <c:v>ww25</c:v>
                </c:pt>
              </c:strCache>
            </c:strRef>
          </c:cat>
          <c:val>
            <c:numRef>
              <c:f>'3C'!$B$11:$BD$11</c:f>
              <c:numCache>
                <c:formatCode>0</c:formatCode>
                <c:ptCount val="1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165</c:v>
                </c:pt>
                <c:pt idx="7">
                  <c:v>165</c:v>
                </c:pt>
                <c:pt idx="8">
                  <c:v>165</c:v>
                </c:pt>
                <c:pt idx="9">
                  <c:v>165</c:v>
                </c:pt>
                <c:pt idx="10">
                  <c:v>165</c:v>
                </c:pt>
                <c:pt idx="11">
                  <c:v>165</c:v>
                </c:pt>
                <c:pt idx="12">
                  <c:v>165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64DD-42D6-A462-8E474A94BF75}"/>
            </c:ext>
          </c:extLst>
        </c:ser>
        <c:ser>
          <c:idx val="3"/>
          <c:order val="3"/>
          <c:tx>
            <c:strRef>
              <c:f>'3C'!$A$12</c:f>
              <c:strCache>
                <c:ptCount val="1"/>
                <c:pt idx="0">
                  <c:v>Shipped lot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Jun-ww25</c:v>
                </c:pt>
                <c:pt idx="12">
                  <c:v>ww25</c:v>
                </c:pt>
              </c:strCache>
            </c:strRef>
          </c:cat>
          <c:val>
            <c:numRef>
              <c:f>'3C'!$B$12:$BD$12</c:f>
              <c:numCache>
                <c:formatCode>General</c:formatCode>
                <c:ptCount val="13"/>
                <c:pt idx="0">
                  <c:v>11056</c:v>
                </c:pt>
                <c:pt idx="1">
                  <c:v>12225</c:v>
                </c:pt>
                <c:pt idx="2">
                  <c:v>15986</c:v>
                </c:pt>
                <c:pt idx="3">
                  <c:v>14294</c:v>
                </c:pt>
                <c:pt idx="4">
                  <c:v>17787</c:v>
                </c:pt>
                <c:pt idx="5">
                  <c:v>20605</c:v>
                </c:pt>
                <c:pt idx="6">
                  <c:v>15810</c:v>
                </c:pt>
                <c:pt idx="7">
                  <c:v>17085</c:v>
                </c:pt>
                <c:pt idx="8">
                  <c:v>23715</c:v>
                </c:pt>
                <c:pt idx="9">
                  <c:v>16669</c:v>
                </c:pt>
                <c:pt idx="10">
                  <c:v>17013</c:v>
                </c:pt>
                <c:pt idx="11">
                  <c:v>18064</c:v>
                </c:pt>
                <c:pt idx="12">
                  <c:v>4931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64DD-42D6-A462-8E474A94B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071456"/>
        <c:axId val="373069496"/>
      </c:lineChart>
      <c:catAx>
        <c:axId val="373071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0672"/>
        <c:crosses val="autoZero"/>
        <c:auto val="1"/>
        <c:lblAlgn val="ctr"/>
        <c:lblOffset val="100"/>
        <c:noMultiLvlLbl val="0"/>
      </c:catAx>
      <c:valAx>
        <c:axId val="373070672"/>
        <c:scaling>
          <c:orientation val="minMax"/>
          <c:max val="1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1064"/>
        <c:crosses val="autoZero"/>
        <c:crossBetween val="between"/>
        <c:majorUnit val="1"/>
      </c:valAx>
      <c:catAx>
        <c:axId val="3730714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73069496"/>
        <c:crosses val="autoZero"/>
        <c:auto val="1"/>
        <c:lblAlgn val="ctr"/>
        <c:lblOffset val="100"/>
        <c:noMultiLvlLbl val="0"/>
      </c:catAx>
      <c:valAx>
        <c:axId val="373069496"/>
        <c:scaling>
          <c:orientation val="minMax"/>
          <c:max val="1000"/>
          <c:min val="100"/>
        </c:scaling>
        <c:delete val="0"/>
        <c:axPos val="r"/>
        <c:numFmt formatCode="0" sourceLinked="1"/>
        <c:majorTickMark val="out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1456"/>
        <c:crosses val="max"/>
        <c:crossBetween val="between"/>
        <c:majorUnit val="100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</c:dTable>
    </c:plotArea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'3C'!$A$9</c:f>
              <c:strCache>
                <c:ptCount val="1"/>
                <c:pt idx="0">
                  <c:v>CAR (#)</c:v>
                </c:pt>
              </c:strCache>
            </c:strRef>
          </c:tx>
          <c:invertIfNegative val="0"/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'3C'!$B$9:$BD$9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2</c:v>
                </c:pt>
                <c:pt idx="11">
                  <c:v>3</c:v>
                </c:pt>
                <c:pt idx="12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497-44DC-AC4D-9FEB17450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3071848"/>
        <c:axId val="373074592"/>
      </c:barChart>
      <c:lineChart>
        <c:grouping val="standard"/>
        <c:varyColors val="0"/>
        <c:ser>
          <c:idx val="1"/>
          <c:order val="1"/>
          <c:tx>
            <c:strRef>
              <c:f>'3C'!$A$10</c:f>
              <c:strCache>
                <c:ptCount val="1"/>
                <c:pt idx="0">
                  <c:v>CAR( PPM)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'3C'!$B$10:$BD$10</c:f>
              <c:numCache>
                <c:formatCode>0</c:formatCode>
                <c:ptCount val="13"/>
                <c:pt idx="0">
                  <c:v>362</c:v>
                </c:pt>
                <c:pt idx="1">
                  <c:v>245</c:v>
                </c:pt>
                <c:pt idx="2">
                  <c:v>313</c:v>
                </c:pt>
                <c:pt idx="3">
                  <c:v>140</c:v>
                </c:pt>
                <c:pt idx="4">
                  <c:v>56</c:v>
                </c:pt>
                <c:pt idx="5">
                  <c:v>146</c:v>
                </c:pt>
                <c:pt idx="6">
                  <c:v>190</c:v>
                </c:pt>
                <c:pt idx="7">
                  <c:v>176</c:v>
                </c:pt>
                <c:pt idx="8">
                  <c:v>84</c:v>
                </c:pt>
                <c:pt idx="9">
                  <c:v>0</c:v>
                </c:pt>
                <c:pt idx="10">
                  <c:v>118</c:v>
                </c:pt>
                <c:pt idx="11">
                  <c:v>133</c:v>
                </c:pt>
                <c:pt idx="12">
                  <c:v>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D497-44DC-AC4D-9FEB1745022F}"/>
            </c:ext>
          </c:extLst>
        </c:ser>
        <c:ser>
          <c:idx val="2"/>
          <c:order val="2"/>
          <c:tx>
            <c:strRef>
              <c:f>'3C'!$A$11</c:f>
              <c:strCache>
                <c:ptCount val="1"/>
                <c:pt idx="0">
                  <c:v>CAR Goal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'3C'!$B$11:$BD$11</c:f>
              <c:numCache>
                <c:formatCode>0</c:formatCode>
                <c:ptCount val="1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165</c:v>
                </c:pt>
                <c:pt idx="7">
                  <c:v>165</c:v>
                </c:pt>
                <c:pt idx="8">
                  <c:v>165</c:v>
                </c:pt>
                <c:pt idx="9">
                  <c:v>165</c:v>
                </c:pt>
                <c:pt idx="10">
                  <c:v>165</c:v>
                </c:pt>
                <c:pt idx="11">
                  <c:v>165</c:v>
                </c:pt>
                <c:pt idx="12">
                  <c:v>165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D497-44DC-AC4D-9FEB1745022F}"/>
            </c:ext>
          </c:extLst>
        </c:ser>
        <c:ser>
          <c:idx val="3"/>
          <c:order val="3"/>
          <c:tx>
            <c:strRef>
              <c:f>'3C'!$A$12</c:f>
              <c:strCache>
                <c:ptCount val="1"/>
                <c:pt idx="0">
                  <c:v>Shipped lot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'3C'!$B$12:$BD$12</c:f>
              <c:numCache>
                <c:formatCode>General</c:formatCode>
                <c:ptCount val="13"/>
                <c:pt idx="0">
                  <c:v>11056</c:v>
                </c:pt>
                <c:pt idx="1">
                  <c:v>12225</c:v>
                </c:pt>
                <c:pt idx="2">
                  <c:v>15986</c:v>
                </c:pt>
                <c:pt idx="3">
                  <c:v>14294</c:v>
                </c:pt>
                <c:pt idx="4">
                  <c:v>17787</c:v>
                </c:pt>
                <c:pt idx="5">
                  <c:v>20605</c:v>
                </c:pt>
                <c:pt idx="6">
                  <c:v>15810</c:v>
                </c:pt>
                <c:pt idx="7">
                  <c:v>17085</c:v>
                </c:pt>
                <c:pt idx="8">
                  <c:v>23715</c:v>
                </c:pt>
                <c:pt idx="9">
                  <c:v>16669</c:v>
                </c:pt>
                <c:pt idx="10">
                  <c:v>17013</c:v>
                </c:pt>
                <c:pt idx="11">
                  <c:v>22603</c:v>
                </c:pt>
                <c:pt idx="12">
                  <c:v>4539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D497-44DC-AC4D-9FEB17450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072240"/>
        <c:axId val="373072632"/>
      </c:lineChart>
      <c:catAx>
        <c:axId val="373071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4592"/>
        <c:crosses val="autoZero"/>
        <c:auto val="1"/>
        <c:lblAlgn val="ctr"/>
        <c:lblOffset val="100"/>
        <c:noMultiLvlLbl val="0"/>
      </c:catAx>
      <c:valAx>
        <c:axId val="373074592"/>
        <c:scaling>
          <c:orientation val="minMax"/>
          <c:max val="1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1848"/>
        <c:crosses val="autoZero"/>
        <c:crossBetween val="between"/>
        <c:majorUnit val="1"/>
      </c:valAx>
      <c:catAx>
        <c:axId val="3730722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73072632"/>
        <c:crosses val="autoZero"/>
        <c:auto val="1"/>
        <c:lblAlgn val="ctr"/>
        <c:lblOffset val="100"/>
        <c:noMultiLvlLbl val="0"/>
      </c:catAx>
      <c:valAx>
        <c:axId val="373072632"/>
        <c:scaling>
          <c:orientation val="minMax"/>
          <c:max val="1000"/>
          <c:min val="100"/>
        </c:scaling>
        <c:delete val="0"/>
        <c:axPos val="r"/>
        <c:numFmt formatCode="0" sourceLinked="1"/>
        <c:majorTickMark val="out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2240"/>
        <c:crosses val="max"/>
        <c:crossBetween val="between"/>
        <c:majorUnit val="100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</c:dTable>
    </c:plotArea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'3C'!$A$9</c:f>
              <c:strCache>
                <c:ptCount val="1"/>
                <c:pt idx="0">
                  <c:v>CAR (#)</c:v>
                </c:pt>
              </c:strCache>
            </c:strRef>
          </c:tx>
          <c:invertIfNegative val="0"/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'3C'!$B$9:$BD$9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2</c:v>
                </c:pt>
                <c:pt idx="11">
                  <c:v>3</c:v>
                </c:pt>
                <c:pt idx="12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C8C-49C4-BA24-4FD94592D9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3076552"/>
        <c:axId val="373079688"/>
      </c:barChart>
      <c:lineChart>
        <c:grouping val="standard"/>
        <c:varyColors val="0"/>
        <c:ser>
          <c:idx val="1"/>
          <c:order val="1"/>
          <c:tx>
            <c:strRef>
              <c:f>'3C'!$A$10</c:f>
              <c:strCache>
                <c:ptCount val="1"/>
                <c:pt idx="0">
                  <c:v>CAR( PPM)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'3C'!$B$10:$BD$10</c:f>
              <c:numCache>
                <c:formatCode>0</c:formatCode>
                <c:ptCount val="13"/>
                <c:pt idx="0">
                  <c:v>362</c:v>
                </c:pt>
                <c:pt idx="1">
                  <c:v>245</c:v>
                </c:pt>
                <c:pt idx="2">
                  <c:v>313</c:v>
                </c:pt>
                <c:pt idx="3">
                  <c:v>140</c:v>
                </c:pt>
                <c:pt idx="4">
                  <c:v>56</c:v>
                </c:pt>
                <c:pt idx="5">
                  <c:v>146</c:v>
                </c:pt>
                <c:pt idx="6">
                  <c:v>190</c:v>
                </c:pt>
                <c:pt idx="7">
                  <c:v>176</c:v>
                </c:pt>
                <c:pt idx="8">
                  <c:v>84</c:v>
                </c:pt>
                <c:pt idx="9">
                  <c:v>0</c:v>
                </c:pt>
                <c:pt idx="10">
                  <c:v>118</c:v>
                </c:pt>
                <c:pt idx="11">
                  <c:v>133</c:v>
                </c:pt>
                <c:pt idx="12">
                  <c:v>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EC8C-49C4-BA24-4FD94592D9E6}"/>
            </c:ext>
          </c:extLst>
        </c:ser>
        <c:ser>
          <c:idx val="2"/>
          <c:order val="2"/>
          <c:tx>
            <c:strRef>
              <c:f>'3C'!$A$11</c:f>
              <c:strCache>
                <c:ptCount val="1"/>
                <c:pt idx="0">
                  <c:v>CAR Goal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'3C'!$B$11:$BD$11</c:f>
              <c:numCache>
                <c:formatCode>0</c:formatCode>
                <c:ptCount val="1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165</c:v>
                </c:pt>
                <c:pt idx="7">
                  <c:v>165</c:v>
                </c:pt>
                <c:pt idx="8">
                  <c:v>165</c:v>
                </c:pt>
                <c:pt idx="9">
                  <c:v>165</c:v>
                </c:pt>
                <c:pt idx="10">
                  <c:v>165</c:v>
                </c:pt>
                <c:pt idx="11">
                  <c:v>165</c:v>
                </c:pt>
                <c:pt idx="12">
                  <c:v>165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EC8C-49C4-BA24-4FD94592D9E6}"/>
            </c:ext>
          </c:extLst>
        </c:ser>
        <c:ser>
          <c:idx val="3"/>
          <c:order val="3"/>
          <c:tx>
            <c:strRef>
              <c:f>'3C'!$A$12</c:f>
              <c:strCache>
                <c:ptCount val="1"/>
                <c:pt idx="0">
                  <c:v>Shipped lot</c:v>
                </c:pt>
              </c:strCache>
            </c:strRef>
          </c:tx>
          <c:cat>
            <c:strRef>
              <c:f>'3C'!$B$2:$BD$2</c:f>
              <c:strCache>
                <c:ptCount val="13"/>
                <c:pt idx="0">
                  <c:v>Jul'12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Nov-</c:v>
                </c:pt>
                <c:pt idx="5">
                  <c:v>Dec</c:v>
                </c:pt>
                <c:pt idx="6">
                  <c:v>Jan'13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Jun-ww26</c:v>
                </c:pt>
                <c:pt idx="12">
                  <c:v>ww26</c:v>
                </c:pt>
              </c:strCache>
            </c:strRef>
          </c:cat>
          <c:val>
            <c:numRef>
              <c:f>'3C'!$B$12:$BD$12</c:f>
              <c:numCache>
                <c:formatCode>General</c:formatCode>
                <c:ptCount val="13"/>
                <c:pt idx="0">
                  <c:v>11056</c:v>
                </c:pt>
                <c:pt idx="1">
                  <c:v>12225</c:v>
                </c:pt>
                <c:pt idx="2">
                  <c:v>15986</c:v>
                </c:pt>
                <c:pt idx="3">
                  <c:v>14294</c:v>
                </c:pt>
                <c:pt idx="4">
                  <c:v>17787</c:v>
                </c:pt>
                <c:pt idx="5">
                  <c:v>20605</c:v>
                </c:pt>
                <c:pt idx="6">
                  <c:v>15810</c:v>
                </c:pt>
                <c:pt idx="7">
                  <c:v>17085</c:v>
                </c:pt>
                <c:pt idx="8">
                  <c:v>23715</c:v>
                </c:pt>
                <c:pt idx="9">
                  <c:v>16669</c:v>
                </c:pt>
                <c:pt idx="10">
                  <c:v>17013</c:v>
                </c:pt>
                <c:pt idx="11">
                  <c:v>22603</c:v>
                </c:pt>
                <c:pt idx="12">
                  <c:v>4539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EC8C-49C4-BA24-4FD94592D9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076944"/>
        <c:axId val="373077336"/>
      </c:lineChart>
      <c:catAx>
        <c:axId val="373076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9688"/>
        <c:crosses val="autoZero"/>
        <c:auto val="1"/>
        <c:lblAlgn val="ctr"/>
        <c:lblOffset val="100"/>
        <c:noMultiLvlLbl val="0"/>
      </c:catAx>
      <c:valAx>
        <c:axId val="373079688"/>
        <c:scaling>
          <c:orientation val="minMax"/>
          <c:max val="1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6552"/>
        <c:crosses val="autoZero"/>
        <c:crossBetween val="between"/>
        <c:majorUnit val="1"/>
      </c:valAx>
      <c:catAx>
        <c:axId val="3730769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73077336"/>
        <c:crosses val="autoZero"/>
        <c:auto val="1"/>
        <c:lblAlgn val="ctr"/>
        <c:lblOffset val="100"/>
        <c:noMultiLvlLbl val="0"/>
      </c:catAx>
      <c:valAx>
        <c:axId val="373077336"/>
        <c:scaling>
          <c:orientation val="minMax"/>
          <c:max val="1000"/>
          <c:min val="100"/>
        </c:scaling>
        <c:delete val="0"/>
        <c:axPos val="r"/>
        <c:numFmt formatCode="0" sourceLinked="1"/>
        <c:majorTickMark val="out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76944"/>
        <c:crosses val="max"/>
        <c:crossBetween val="between"/>
        <c:majorUnit val="100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</c:dTable>
    </c:plotArea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zh-CN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'3C'!$A$9</c:f>
              <c:strCache>
                <c:ptCount val="1"/>
                <c:pt idx="0">
                  <c:v>CAR (#)</c:v>
                </c:pt>
              </c:strCache>
            </c:strRef>
          </c:tx>
          <c:invertIfNegative val="0"/>
          <c:cat>
            <c:strRef>
              <c:f>'3C'!$B$2:$BF$2</c:f>
              <c:strCache>
                <c:ptCount val="13"/>
                <c:pt idx="0">
                  <c:v>Sep'12</c:v>
                </c:pt>
                <c:pt idx="1">
                  <c:v>Oct</c:v>
                </c:pt>
                <c:pt idx="2">
                  <c:v>Nov-</c:v>
                </c:pt>
                <c:pt idx="3">
                  <c:v>Dec</c:v>
                </c:pt>
                <c:pt idx="4">
                  <c:v>Jan'13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Aug-ww32</c:v>
                </c:pt>
                <c:pt idx="12">
                  <c:v>ww32</c:v>
                </c:pt>
              </c:strCache>
            </c:strRef>
          </c:cat>
          <c:val>
            <c:numRef>
              <c:f>'3C'!$B$9:$BF$9</c:f>
              <c:numCache>
                <c:formatCode>General</c:formatCode>
                <c:ptCount val="13"/>
                <c:pt idx="0">
                  <c:v>5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0</c:v>
                </c:pt>
                <c:pt idx="8">
                  <c:v>2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37-4B31-83E1-C5E49F4E3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3080864"/>
        <c:axId val="373083216"/>
      </c:barChart>
      <c:lineChart>
        <c:grouping val="standard"/>
        <c:varyColors val="0"/>
        <c:ser>
          <c:idx val="1"/>
          <c:order val="1"/>
          <c:tx>
            <c:strRef>
              <c:f>'3C'!$A$10</c:f>
              <c:strCache>
                <c:ptCount val="1"/>
                <c:pt idx="0">
                  <c:v>CAR( PPM)</c:v>
                </c:pt>
              </c:strCache>
            </c:strRef>
          </c:tx>
          <c:cat>
            <c:strRef>
              <c:f>'3C'!$B$2:$BF$2</c:f>
              <c:strCache>
                <c:ptCount val="13"/>
                <c:pt idx="0">
                  <c:v>Sep'12</c:v>
                </c:pt>
                <c:pt idx="1">
                  <c:v>Oct</c:v>
                </c:pt>
                <c:pt idx="2">
                  <c:v>Nov-</c:v>
                </c:pt>
                <c:pt idx="3">
                  <c:v>Dec</c:v>
                </c:pt>
                <c:pt idx="4">
                  <c:v>Jan'13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Aug-ww32</c:v>
                </c:pt>
                <c:pt idx="12">
                  <c:v>ww32</c:v>
                </c:pt>
              </c:strCache>
            </c:strRef>
          </c:cat>
          <c:val>
            <c:numRef>
              <c:f>'3C'!$B$10:$BF$10</c:f>
              <c:numCache>
                <c:formatCode>0</c:formatCode>
                <c:ptCount val="13"/>
                <c:pt idx="0">
                  <c:v>313</c:v>
                </c:pt>
                <c:pt idx="1">
                  <c:v>140</c:v>
                </c:pt>
                <c:pt idx="2">
                  <c:v>56</c:v>
                </c:pt>
                <c:pt idx="3">
                  <c:v>146</c:v>
                </c:pt>
                <c:pt idx="4">
                  <c:v>190</c:v>
                </c:pt>
                <c:pt idx="5">
                  <c:v>176</c:v>
                </c:pt>
                <c:pt idx="6">
                  <c:v>84</c:v>
                </c:pt>
                <c:pt idx="7">
                  <c:v>0</c:v>
                </c:pt>
                <c:pt idx="8">
                  <c:v>118</c:v>
                </c:pt>
                <c:pt idx="9">
                  <c:v>133</c:v>
                </c:pt>
                <c:pt idx="10">
                  <c:v>60</c:v>
                </c:pt>
                <c:pt idx="11">
                  <c:v>370</c:v>
                </c:pt>
                <c:pt idx="12">
                  <c:v>245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5137-4B31-83E1-C5E49F4E35E6}"/>
            </c:ext>
          </c:extLst>
        </c:ser>
        <c:ser>
          <c:idx val="2"/>
          <c:order val="2"/>
          <c:tx>
            <c:strRef>
              <c:f>'3C'!$A$11</c:f>
              <c:strCache>
                <c:ptCount val="1"/>
                <c:pt idx="0">
                  <c:v>CAR Goal</c:v>
                </c:pt>
              </c:strCache>
            </c:strRef>
          </c:tx>
          <c:cat>
            <c:strRef>
              <c:f>'3C'!$B$2:$BF$2</c:f>
              <c:strCache>
                <c:ptCount val="13"/>
                <c:pt idx="0">
                  <c:v>Sep'12</c:v>
                </c:pt>
                <c:pt idx="1">
                  <c:v>Oct</c:v>
                </c:pt>
                <c:pt idx="2">
                  <c:v>Nov-</c:v>
                </c:pt>
                <c:pt idx="3">
                  <c:v>Dec</c:v>
                </c:pt>
                <c:pt idx="4">
                  <c:v>Jan'13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Aug-ww32</c:v>
                </c:pt>
                <c:pt idx="12">
                  <c:v>ww32</c:v>
                </c:pt>
              </c:strCache>
            </c:strRef>
          </c:cat>
          <c:val>
            <c:numRef>
              <c:f>'3C'!$B$11:$BF$11</c:f>
              <c:numCache>
                <c:formatCode>0</c:formatCode>
                <c:ptCount val="1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165</c:v>
                </c:pt>
                <c:pt idx="5">
                  <c:v>165</c:v>
                </c:pt>
                <c:pt idx="6">
                  <c:v>165</c:v>
                </c:pt>
                <c:pt idx="7">
                  <c:v>165</c:v>
                </c:pt>
                <c:pt idx="8">
                  <c:v>165</c:v>
                </c:pt>
                <c:pt idx="9">
                  <c:v>165</c:v>
                </c:pt>
                <c:pt idx="10">
                  <c:v>165</c:v>
                </c:pt>
                <c:pt idx="11">
                  <c:v>165</c:v>
                </c:pt>
                <c:pt idx="12">
                  <c:v>165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5137-4B31-83E1-C5E49F4E35E6}"/>
            </c:ext>
          </c:extLst>
        </c:ser>
        <c:ser>
          <c:idx val="3"/>
          <c:order val="3"/>
          <c:tx>
            <c:strRef>
              <c:f>'3C'!$A$12</c:f>
              <c:strCache>
                <c:ptCount val="1"/>
                <c:pt idx="0">
                  <c:v>Shipped lot</c:v>
                </c:pt>
              </c:strCache>
            </c:strRef>
          </c:tx>
          <c:cat>
            <c:strRef>
              <c:f>'3C'!$B$2:$BF$2</c:f>
              <c:strCache>
                <c:ptCount val="13"/>
                <c:pt idx="0">
                  <c:v>Sep'12</c:v>
                </c:pt>
                <c:pt idx="1">
                  <c:v>Oct</c:v>
                </c:pt>
                <c:pt idx="2">
                  <c:v>Nov-</c:v>
                </c:pt>
                <c:pt idx="3">
                  <c:v>Dec</c:v>
                </c:pt>
                <c:pt idx="4">
                  <c:v>Jan'13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Aug-ww32</c:v>
                </c:pt>
                <c:pt idx="12">
                  <c:v>ww32</c:v>
                </c:pt>
              </c:strCache>
            </c:strRef>
          </c:cat>
          <c:val>
            <c:numRef>
              <c:f>'3C'!$B$12:$BF$12</c:f>
              <c:numCache>
                <c:formatCode>General</c:formatCode>
                <c:ptCount val="13"/>
                <c:pt idx="0">
                  <c:v>15986</c:v>
                </c:pt>
                <c:pt idx="1">
                  <c:v>14294</c:v>
                </c:pt>
                <c:pt idx="2">
                  <c:v>17787</c:v>
                </c:pt>
                <c:pt idx="3">
                  <c:v>20605</c:v>
                </c:pt>
                <c:pt idx="4">
                  <c:v>15810</c:v>
                </c:pt>
                <c:pt idx="5">
                  <c:v>17085</c:v>
                </c:pt>
                <c:pt idx="6">
                  <c:v>23715</c:v>
                </c:pt>
                <c:pt idx="7">
                  <c:v>16669</c:v>
                </c:pt>
                <c:pt idx="8">
                  <c:v>17013</c:v>
                </c:pt>
                <c:pt idx="9">
                  <c:v>22603</c:v>
                </c:pt>
                <c:pt idx="10">
                  <c:v>16675</c:v>
                </c:pt>
                <c:pt idx="11">
                  <c:v>8119</c:v>
                </c:pt>
                <c:pt idx="12">
                  <c:v>4079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5137-4B31-83E1-C5E49F4E3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084392"/>
        <c:axId val="373082824"/>
      </c:lineChart>
      <c:catAx>
        <c:axId val="37308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83216"/>
        <c:crosses val="autoZero"/>
        <c:auto val="1"/>
        <c:lblAlgn val="ctr"/>
        <c:lblOffset val="100"/>
        <c:noMultiLvlLbl val="0"/>
      </c:catAx>
      <c:valAx>
        <c:axId val="373083216"/>
        <c:scaling>
          <c:orientation val="minMax"/>
          <c:max val="1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80864"/>
        <c:crosses val="autoZero"/>
        <c:crossBetween val="between"/>
        <c:majorUnit val="1"/>
      </c:valAx>
      <c:catAx>
        <c:axId val="3730843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73082824"/>
        <c:crosses val="autoZero"/>
        <c:auto val="1"/>
        <c:lblAlgn val="ctr"/>
        <c:lblOffset val="100"/>
        <c:noMultiLvlLbl val="0"/>
      </c:catAx>
      <c:valAx>
        <c:axId val="373082824"/>
        <c:scaling>
          <c:orientation val="minMax"/>
          <c:max val="1000"/>
          <c:min val="100"/>
        </c:scaling>
        <c:delete val="0"/>
        <c:axPos val="r"/>
        <c:numFmt formatCode="0" sourceLinked="1"/>
        <c:majorTickMark val="out"/>
        <c:minorTickMark val="none"/>
        <c:tickLblPos val="nextTo"/>
        <c:txPr>
          <a:bodyPr rot="0" vert="horz"/>
          <a:lstStyle/>
          <a:p>
            <a:pPr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373084392"/>
        <c:crosses val="max"/>
        <c:crossBetween val="between"/>
        <c:majorUnit val="100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lang="ja-JP"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</c:dTable>
    </c:plotArea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zh-CN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40FF8-4089-4002-8EDB-99C776E69749}" type="datetimeFigureOut">
              <a:rPr lang="en-US" smtClean="0">
                <a:latin typeface="Arial" pitchFamily="34" charset="0"/>
              </a:rPr>
              <a:t>12/11/2019</a:t>
            </a:fld>
            <a:endParaRPr lang="en-US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CD0F4-8EAE-49E9-8DAE-920F7531C08E}" type="slidenum">
              <a:rPr lang="en-US" smtClean="0">
                <a:latin typeface="Arial" pitchFamily="34" charset="0"/>
              </a:rPr>
              <a:t>‹#›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613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326DB489-202E-4EBA-AA54-E06F40EDDA07}" type="datetimeFigureOut">
              <a:rPr lang="en-US" smtClean="0"/>
              <a:pPr/>
              <a:t>12/11/2019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50D8E1D-8630-4EA2-97BC-C532E16F4B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5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524000" y="611188"/>
            <a:ext cx="6096000" cy="3429000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kumimoji="0" lang="en-US" dirty="0">
                <a:latin typeface="Arial" pitchFamily="34" charset="0"/>
                <a:ea typeface="+mn-ea"/>
                <a:cs typeface="+mn-cs"/>
              </a:rPr>
              <a:t>Jun	Jul	Aug</a:t>
            </a:r>
          </a:p>
          <a:p>
            <a:pPr>
              <a:defRPr/>
            </a:pPr>
            <a:r>
              <a:rPr kumimoji="0" lang="en-US" dirty="0">
                <a:latin typeface="Arial" pitchFamily="34" charset="0"/>
                <a:ea typeface="+mn-ea"/>
                <a:cs typeface="+mn-cs"/>
              </a:rPr>
              <a:t>12                8	12</a:t>
            </a:r>
          </a:p>
          <a:p>
            <a:pPr marL="228600" indent="-228600">
              <a:buFontTx/>
              <a:buAutoNum type="arabicPlain" startAt="14085"/>
              <a:defRPr/>
            </a:pPr>
            <a:r>
              <a:rPr kumimoji="0" lang="en-US" dirty="0">
                <a:latin typeface="Arial" pitchFamily="34" charset="0"/>
                <a:ea typeface="+mn-ea"/>
                <a:cs typeface="+mn-cs"/>
              </a:rPr>
              <a:t>         11217	10946</a:t>
            </a:r>
          </a:p>
          <a:p>
            <a:pPr marL="228600" indent="-228600">
              <a:defRPr/>
            </a:pPr>
            <a:r>
              <a:rPr kumimoji="0" lang="en-US" dirty="0">
                <a:latin typeface="Arial" pitchFamily="34" charset="0"/>
                <a:ea typeface="+mn-ea"/>
                <a:cs typeface="+mn-cs"/>
              </a:rPr>
              <a:t>2817            2804              2736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sz="12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49156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CB725F8A-0B39-400A-83FE-2CCD0664F30D}" type="slidenum">
              <a:rPr kumimoji="0" lang="en-US" altLang="ko-KR" sz="12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1</a:t>
            </a:fld>
            <a:endParaRPr kumimoji="0" lang="en-US" altLang="ko-KR" sz="120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8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B0B9CE7-EAA0-45BC-B75F-34444E234F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83" y="0"/>
            <a:ext cx="9165035" cy="5157216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="" xmlns:a16="http://schemas.microsoft.com/office/drawing/2014/main" id="{773D7758-E2CD-43C3-A1DA-9BDA986035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18" y="525629"/>
            <a:ext cx="2858389" cy="1056737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="" xmlns:a16="http://schemas.microsoft.com/office/drawing/2014/main" id="{5D59581C-22B6-4232-A54C-F09939215E74}"/>
              </a:ext>
            </a:extLst>
          </p:cNvPr>
          <p:cNvSpPr txBox="1">
            <a:spLocks/>
          </p:cNvSpPr>
          <p:nvPr userDrawn="1"/>
        </p:nvSpPr>
        <p:spPr>
          <a:xfrm>
            <a:off x="6897189" y="4844222"/>
            <a:ext cx="183277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2019 Amkor Technology, Inc.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="" xmlns:a16="http://schemas.microsoft.com/office/drawing/2014/main" id="{3F872275-983D-43CE-81B2-82AE48BD87E9}"/>
              </a:ext>
            </a:extLst>
          </p:cNvPr>
          <p:cNvSpPr txBox="1">
            <a:spLocks/>
          </p:cNvSpPr>
          <p:nvPr userDrawn="1"/>
        </p:nvSpPr>
        <p:spPr>
          <a:xfrm>
            <a:off x="8487419" y="4844222"/>
            <a:ext cx="4898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700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4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FF2BC837-0590-486D-A7B0-10C83562F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83" y="0"/>
            <a:ext cx="9165035" cy="5157216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738B68CB-A267-4E88-8BA2-4E23C7E1B7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6284" y="3664238"/>
            <a:ext cx="5257800" cy="968596"/>
          </a:xfrm>
        </p:spPr>
        <p:txBody>
          <a:bodyPr lIns="137160">
            <a:normAutofit/>
          </a:bodyPr>
          <a:lstStyle>
            <a:lvl1pPr marL="0" indent="0" algn="r">
              <a:buNone/>
              <a:defRPr sz="1600" b="0" i="0">
                <a:solidFill>
                  <a:schemeClr val="bg1"/>
                </a:solidFill>
                <a:effectLst/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 l  Presenter Title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AE806514-D272-4963-809B-023BD3A0F8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6284" y="1466763"/>
            <a:ext cx="5257800" cy="1102519"/>
          </a:xfrm>
        </p:spPr>
        <p:txBody>
          <a:bodyPr lIns="137160">
            <a:normAutofit/>
          </a:bodyPr>
          <a:lstStyle>
            <a:lvl1pPr algn="r">
              <a:defRPr sz="3600" b="0" i="0">
                <a:solidFill>
                  <a:schemeClr val="bg1"/>
                </a:solidFill>
                <a:effectLst/>
                <a:latin typeface="+mj-lt"/>
                <a:ea typeface="Open Sans Light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="" xmlns:a16="http://schemas.microsoft.com/office/drawing/2014/main" id="{86817A3F-45E8-4BFF-9800-4DAB865A5325}"/>
              </a:ext>
            </a:extLst>
          </p:cNvPr>
          <p:cNvSpPr txBox="1">
            <a:spLocks/>
          </p:cNvSpPr>
          <p:nvPr userDrawn="1"/>
        </p:nvSpPr>
        <p:spPr>
          <a:xfrm>
            <a:off x="6942909" y="4844222"/>
            <a:ext cx="17870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2019 Amkor Technology, Inc.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="" xmlns:a16="http://schemas.microsoft.com/office/drawing/2014/main" id="{704BE3F6-CD5F-4F62-A35E-CE9DE01F60BE}"/>
              </a:ext>
            </a:extLst>
          </p:cNvPr>
          <p:cNvSpPr txBox="1">
            <a:spLocks/>
          </p:cNvSpPr>
          <p:nvPr userDrawn="1"/>
        </p:nvSpPr>
        <p:spPr>
          <a:xfrm>
            <a:off x="8487419" y="4844222"/>
            <a:ext cx="4898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700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>
            <a:extLst>
              <a:ext uri="{FF2B5EF4-FFF2-40B4-BE49-F238E27FC236}">
                <a16:creationId xmlns="" xmlns:a16="http://schemas.microsoft.com/office/drawing/2014/main" id="{C13B20D4-B7E0-4DA0-BBA5-B02E794A74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076" y="439795"/>
            <a:ext cx="1607132" cy="59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Amk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B95F11-EAEE-4D38-86AE-6086D5AFD8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81"/>
            <a:ext cx="9144000" cy="5138738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="" xmlns:a16="http://schemas.microsoft.com/office/drawing/2014/main" id="{078FFDCD-1EF6-4E39-91EE-7FFD49BE2D2A}"/>
              </a:ext>
            </a:extLst>
          </p:cNvPr>
          <p:cNvSpPr txBox="1">
            <a:spLocks/>
          </p:cNvSpPr>
          <p:nvPr userDrawn="1"/>
        </p:nvSpPr>
        <p:spPr>
          <a:xfrm>
            <a:off x="7027817" y="4844222"/>
            <a:ext cx="17021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2019 Amkor Technology, Inc.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="" xmlns:a16="http://schemas.microsoft.com/office/drawing/2014/main" id="{3ACDD8C9-DC47-4215-B024-85321C68D0BE}"/>
              </a:ext>
            </a:extLst>
          </p:cNvPr>
          <p:cNvSpPr txBox="1">
            <a:spLocks/>
          </p:cNvSpPr>
          <p:nvPr userDrawn="1"/>
        </p:nvSpPr>
        <p:spPr>
          <a:xfrm>
            <a:off x="8487419" y="4844222"/>
            <a:ext cx="4898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700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>
            <a:extLst>
              <a:ext uri="{FF2B5EF4-FFF2-40B4-BE49-F238E27FC236}">
                <a16:creationId xmlns="" xmlns:a16="http://schemas.microsoft.com/office/drawing/2014/main" id="{17A7E500-169E-4FA7-94BD-8C9FACB5FE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18" y="525629"/>
            <a:ext cx="2858389" cy="105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Title Slide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6A34832D-7600-4AAF-AEF8-801FE0BD5A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81"/>
            <a:ext cx="9144000" cy="5138738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="" xmlns:a16="http://schemas.microsoft.com/office/drawing/2014/main" id="{C1A482FF-7EBC-4F89-8669-47F1CD6EBE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6" y="4278156"/>
            <a:ext cx="1607132" cy="594151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DD60366E-68A9-4A08-9BE3-1F318FD491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90827" y="2972585"/>
            <a:ext cx="5257800" cy="968596"/>
          </a:xfrm>
        </p:spPr>
        <p:txBody>
          <a:bodyPr lIns="137160">
            <a:normAutofit/>
          </a:bodyPr>
          <a:lstStyle>
            <a:lvl1pPr marL="0" indent="0" algn="r">
              <a:buNone/>
              <a:defRPr sz="1600" b="0" i="0">
                <a:solidFill>
                  <a:schemeClr val="bg1"/>
                </a:solidFill>
                <a:effectLst/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 l  Presenter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8AF9B193-EE68-43F9-8BDF-7107A5F8BE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90827" y="653290"/>
            <a:ext cx="5257800" cy="1102519"/>
          </a:xfrm>
        </p:spPr>
        <p:txBody>
          <a:bodyPr lIns="137160">
            <a:normAutofit/>
          </a:bodyPr>
          <a:lstStyle>
            <a:lvl1pPr algn="r">
              <a:defRPr sz="3600" b="0" i="0">
                <a:solidFill>
                  <a:schemeClr val="bg1"/>
                </a:solidFill>
                <a:effectLst/>
                <a:latin typeface="+mj-lt"/>
                <a:ea typeface="Open Sans Light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="" xmlns:a16="http://schemas.microsoft.com/office/drawing/2014/main" id="{45C00855-1A0A-458A-A7EE-3C94B25DDA2E}"/>
              </a:ext>
            </a:extLst>
          </p:cNvPr>
          <p:cNvSpPr txBox="1">
            <a:spLocks/>
          </p:cNvSpPr>
          <p:nvPr userDrawn="1"/>
        </p:nvSpPr>
        <p:spPr>
          <a:xfrm>
            <a:off x="7067006" y="4844222"/>
            <a:ext cx="16629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2019 Amkor Technology, Inc.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="" xmlns:a16="http://schemas.microsoft.com/office/drawing/2014/main" id="{A2322E85-552B-44DF-9F79-9B4A4665BB0A}"/>
              </a:ext>
            </a:extLst>
          </p:cNvPr>
          <p:cNvSpPr txBox="1">
            <a:spLocks/>
          </p:cNvSpPr>
          <p:nvPr userDrawn="1"/>
        </p:nvSpPr>
        <p:spPr>
          <a:xfrm>
            <a:off x="8487419" y="4844222"/>
            <a:ext cx="4898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700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24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D5DA79E-E62A-49B4-B50C-F6509EA51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72"/>
          <a:stretch/>
        </p:blipFill>
        <p:spPr>
          <a:xfrm>
            <a:off x="0" y="187036"/>
            <a:ext cx="9144000" cy="4599709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="" xmlns:a16="http://schemas.microsoft.com/office/drawing/2014/main" id="{1013B52D-3E22-4875-9323-4DFD22C58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96" y="254684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 or outline title here</a:t>
            </a:r>
          </a:p>
        </p:txBody>
      </p:sp>
    </p:spTree>
    <p:extLst>
      <p:ext uri="{BB962C8B-B14F-4D97-AF65-F5344CB8AC3E}">
        <p14:creationId xmlns:p14="http://schemas.microsoft.com/office/powerpoint/2010/main" val="422325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529662BE-24F2-45D6-BA19-440A63F69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585" y="1206635"/>
            <a:ext cx="8266176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3BA08FBC-B2BB-4C44-A538-6E59C080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4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23618" y="973715"/>
            <a:ext cx="8266176" cy="4976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2BF916-5410-4754-803A-28BAC4886E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181" y="1440301"/>
            <a:ext cx="8266176" cy="3200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="" xmlns:a16="http://schemas.microsoft.com/office/drawing/2014/main" id="{9C11B1A1-302F-4AE7-B66A-F91BD9C10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7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 Content Lef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4820695" y="1257538"/>
            <a:ext cx="3868177" cy="3326655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120B8BF4-A852-4845-9DAA-BAB90E8C91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696" y="1206366"/>
            <a:ext cx="4206240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B0C9C8C8-D6F5-492D-B977-4D9489B6B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2616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36" userDrawn="1">
          <p15:clr>
            <a:srgbClr val="5ACBF0"/>
          </p15:clr>
        </p15:guide>
        <p15:guide id="3" orient="horz" pos="8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 Content Righ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="" xmlns:a16="http://schemas.microsoft.com/office/drawing/2014/main" id="{8927230C-7A04-424A-8986-FEA935708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2696" y="1257538"/>
            <a:ext cx="3868177" cy="3326655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2C133C94-D610-45C7-BA8D-0CF15EE88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1209" y="1206366"/>
            <a:ext cx="4206240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34AE8A76-C60B-47E6-96B6-1E7D7407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424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36" userDrawn="1">
          <p15:clr>
            <a:srgbClr val="5ACBF0"/>
          </p15:clr>
        </p15:guide>
        <p15:guide id="3" orient="horz" pos="828" userDrawn="1">
          <p15:clr>
            <a:srgbClr val="5ACBF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1A98301D-520D-4702-9B48-C6944D64D53A}"/>
              </a:ext>
            </a:extLst>
          </p:cNvPr>
          <p:cNvGrpSpPr/>
          <p:nvPr userDrawn="1"/>
        </p:nvGrpSpPr>
        <p:grpSpPr>
          <a:xfrm>
            <a:off x="0" y="185631"/>
            <a:ext cx="9150876" cy="4602370"/>
            <a:chOff x="0" y="185631"/>
            <a:chExt cx="9150876" cy="4602370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32925DC7-E973-400B-8446-2D256B9B6B4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94401"/>
              <a:ext cx="9144000" cy="45936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76EB8AEE-28F4-41F1-BA24-518ED88CA435}"/>
                </a:ext>
              </a:extLst>
            </p:cNvPr>
            <p:cNvSpPr/>
            <p:nvPr userDrawn="1"/>
          </p:nvSpPr>
          <p:spPr>
            <a:xfrm>
              <a:off x="0" y="185631"/>
              <a:ext cx="9150876" cy="4602370"/>
            </a:xfrm>
            <a:prstGeom prst="rect">
              <a:avLst/>
            </a:prstGeom>
            <a:gradFill>
              <a:gsLst>
                <a:gs pos="35000">
                  <a:schemeClr val="bg1">
                    <a:alpha val="0"/>
                  </a:schemeClr>
                </a:gs>
                <a:gs pos="0">
                  <a:schemeClr val="accent1">
                    <a:alpha val="60000"/>
                  </a:schemeClr>
                </a:gs>
                <a:gs pos="50000">
                  <a:schemeClr val="bg1">
                    <a:alpha val="0"/>
                  </a:schemeClr>
                </a:gs>
                <a:gs pos="65000">
                  <a:schemeClr val="bg1">
                    <a:alpha val="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80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5C502B7-DA60-42F0-B8B9-B8AFF855845B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="" xmlns:a16="http://schemas.microsoft.com/office/drawing/2014/main" id="{4D8C402E-AB37-4D6C-8B92-9C9F1962B4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13798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1</a:t>
            </a:r>
          </a:p>
        </p:txBody>
      </p:sp>
    </p:spTree>
    <p:extLst>
      <p:ext uri="{BB962C8B-B14F-4D97-AF65-F5344CB8AC3E}">
        <p14:creationId xmlns:p14="http://schemas.microsoft.com/office/powerpoint/2010/main" val="360389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CB778948-AB23-42D8-B1E5-D4A22113507A}"/>
              </a:ext>
            </a:extLst>
          </p:cNvPr>
          <p:cNvGrpSpPr/>
          <p:nvPr userDrawn="1"/>
        </p:nvGrpSpPr>
        <p:grpSpPr>
          <a:xfrm>
            <a:off x="0" y="185631"/>
            <a:ext cx="9150876" cy="4602370"/>
            <a:chOff x="0" y="185631"/>
            <a:chExt cx="9150876" cy="4602370"/>
          </a:xfrm>
        </p:grpSpPr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128E2EC8-7BBD-47B9-9F03-23E35E23520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94401"/>
              <a:ext cx="9144000" cy="45936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A73E82CE-C0BE-4FD1-8033-9379F1CCD4C4}"/>
                </a:ext>
              </a:extLst>
            </p:cNvPr>
            <p:cNvSpPr/>
            <p:nvPr userDrawn="1"/>
          </p:nvSpPr>
          <p:spPr>
            <a:xfrm>
              <a:off x="0" y="185631"/>
              <a:ext cx="9150876" cy="4599500"/>
            </a:xfrm>
            <a:prstGeom prst="rect">
              <a:avLst/>
            </a:prstGeom>
            <a:gradFill>
              <a:gsLst>
                <a:gs pos="35000">
                  <a:schemeClr val="bg1">
                    <a:alpha val="0"/>
                  </a:schemeClr>
                </a:gs>
                <a:gs pos="0">
                  <a:schemeClr val="accent1">
                    <a:alpha val="60000"/>
                  </a:schemeClr>
                </a:gs>
                <a:gs pos="50000">
                  <a:schemeClr val="bg1">
                    <a:alpha val="0"/>
                  </a:schemeClr>
                </a:gs>
                <a:gs pos="65000">
                  <a:schemeClr val="bg1">
                    <a:alpha val="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80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27150B5-154C-4FAB-BA76-E1ED5E34C21B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="" xmlns:a16="http://schemas.microsoft.com/office/drawing/2014/main" id="{AB7348A3-FFF9-4C51-83A8-7E2AA74958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91085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1 (with Presenter Name and Title)</a:t>
            </a:r>
          </a:p>
        </p:txBody>
      </p:sp>
      <p:sp>
        <p:nvSpPr>
          <p:cNvPr id="6" name="Title">
            <a:extLst>
              <a:ext uri="{FF2B5EF4-FFF2-40B4-BE49-F238E27FC236}">
                <a16:creationId xmlns="" xmlns:a16="http://schemas.microsoft.com/office/drawing/2014/main" id="{942A2AC9-0DE9-49D9-B1FF-7EE27A9219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68" y="2503601"/>
            <a:ext cx="8266176" cy="54428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993679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6E48EE1-85DF-427C-AB81-33AE75712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09"/>
            <a:ext cx="9144000" cy="45973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D5D30E48-10C5-4903-9448-A099BEC458C6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="" xmlns:a16="http://schemas.microsoft.com/office/drawing/2014/main" id="{D7DF68A0-A3E1-4275-A199-F209B3378D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13798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2</a:t>
            </a:r>
          </a:p>
        </p:txBody>
      </p:sp>
    </p:spTree>
    <p:extLst>
      <p:ext uri="{BB962C8B-B14F-4D97-AF65-F5344CB8AC3E}">
        <p14:creationId xmlns:p14="http://schemas.microsoft.com/office/powerpoint/2010/main" val="2611906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DD48DBB6-0380-4E29-BD8B-72EBB1605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09"/>
            <a:ext cx="9144000" cy="45973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1EEE57F-9F67-4E3F-9830-70C8F17D171D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="" xmlns:a16="http://schemas.microsoft.com/office/drawing/2014/main" id="{B01477DC-C45C-46F0-8641-782699919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91085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2 (with Presenter Name and Title)</a:t>
            </a:r>
          </a:p>
        </p:txBody>
      </p:sp>
      <p:sp>
        <p:nvSpPr>
          <p:cNvPr id="8" name="Title">
            <a:extLst>
              <a:ext uri="{FF2B5EF4-FFF2-40B4-BE49-F238E27FC236}">
                <a16:creationId xmlns="" xmlns:a16="http://schemas.microsoft.com/office/drawing/2014/main" id="{FFAEDDE4-FB37-4A73-893C-E6C93DC473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68" y="2503601"/>
            <a:ext cx="8266176" cy="54428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031722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0F0FE9C-024B-4218-8B92-3A9768962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09"/>
            <a:ext cx="9144000" cy="45997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AA9D55A-CFED-4C54-91A6-5E351CD2644C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="" xmlns:a16="http://schemas.microsoft.com/office/drawing/2014/main" id="{1E73302A-34DF-414F-BF86-D3AE3CA5FD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13798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3</a:t>
            </a:r>
          </a:p>
        </p:txBody>
      </p:sp>
    </p:spTree>
    <p:extLst>
      <p:ext uri="{BB962C8B-B14F-4D97-AF65-F5344CB8AC3E}">
        <p14:creationId xmlns:p14="http://schemas.microsoft.com/office/powerpoint/2010/main" val="3637865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D400A09-73DC-4AE6-9C59-C2B1101E1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09"/>
            <a:ext cx="9144000" cy="45997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C1D5778-9648-45E9-8920-72160FFFD4FE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="" xmlns:a16="http://schemas.microsoft.com/office/drawing/2014/main" id="{9FC9B182-5A32-4EC5-8587-07575D8E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91085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3 (with Presenter Name and Title)</a:t>
            </a:r>
          </a:p>
        </p:txBody>
      </p:sp>
      <p:sp>
        <p:nvSpPr>
          <p:cNvPr id="9" name="Title">
            <a:extLst>
              <a:ext uri="{FF2B5EF4-FFF2-40B4-BE49-F238E27FC236}">
                <a16:creationId xmlns="" xmlns:a16="http://schemas.microsoft.com/office/drawing/2014/main" id="{B6387809-C3C7-40A0-8281-612C09AFA7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68" y="2503601"/>
            <a:ext cx="8266176" cy="54428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1436727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0F0FE9C-024B-4218-8B92-3A9768962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5"/>
          <a:stretch/>
        </p:blipFill>
        <p:spPr>
          <a:xfrm>
            <a:off x="863" y="186875"/>
            <a:ext cx="9143137" cy="45994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98F710E-5147-49F8-88F2-14CBC65C6AFB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="" xmlns:a16="http://schemas.microsoft.com/office/drawing/2014/main" id="{5B89DB28-3B69-493F-A949-281E2B681C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13798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4</a:t>
            </a:r>
          </a:p>
        </p:txBody>
      </p:sp>
    </p:spTree>
    <p:extLst>
      <p:ext uri="{BB962C8B-B14F-4D97-AF65-F5344CB8AC3E}">
        <p14:creationId xmlns:p14="http://schemas.microsoft.com/office/powerpoint/2010/main" val="2820784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A8E0976-AAB7-4C4E-9552-3ADC0077AE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5"/>
          <a:stretch/>
        </p:blipFill>
        <p:spPr>
          <a:xfrm>
            <a:off x="863" y="186875"/>
            <a:ext cx="9143137" cy="45994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300148B-21EC-4599-9590-A474AB1829E7}"/>
              </a:ext>
            </a:extLst>
          </p:cNvPr>
          <p:cNvSpPr/>
          <p:nvPr userDrawn="1"/>
        </p:nvSpPr>
        <p:spPr>
          <a:xfrm>
            <a:off x="0" y="1608306"/>
            <a:ext cx="9144000" cy="1504545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="" xmlns:a16="http://schemas.microsoft.com/office/drawing/2014/main" id="{16F3E0A6-C0C9-454D-AE93-1405B2D67F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768" y="1668035"/>
            <a:ext cx="8266176" cy="91085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Section Slide 4 (with Presenter Name and Title)</a:t>
            </a:r>
          </a:p>
        </p:txBody>
      </p:sp>
      <p:sp>
        <p:nvSpPr>
          <p:cNvPr id="9" name="Title">
            <a:extLst>
              <a:ext uri="{FF2B5EF4-FFF2-40B4-BE49-F238E27FC236}">
                <a16:creationId xmlns="" xmlns:a16="http://schemas.microsoft.com/office/drawing/2014/main" id="{54528D56-C2F3-4320-AC3E-6C12612890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68" y="2503601"/>
            <a:ext cx="8266176" cy="54428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4pPr marL="857228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1151075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381328" y="752272"/>
            <a:ext cx="6400800" cy="229052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461754" y="3195196"/>
            <a:ext cx="3320374" cy="1295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8188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306111" y="750311"/>
            <a:ext cx="4380689" cy="2286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492886" y="3410466"/>
            <a:ext cx="3193914" cy="1295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28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7"/>
          </p:nvPr>
        </p:nvSpPr>
        <p:spPr>
          <a:xfrm>
            <a:off x="0" y="190498"/>
            <a:ext cx="4011613" cy="459028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73025" indent="0">
              <a:buClr>
                <a:schemeClr val="accent1"/>
              </a:buClr>
              <a:buFontTx/>
              <a:buNone/>
              <a:defRPr sz="24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6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D24B5153-58E9-46F8-93CD-C3F960812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2696" y="1206366"/>
            <a:ext cx="4023360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DB1FEA16-AFDE-471A-923C-0D330457EB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5512" y="1206366"/>
            <a:ext cx="4023360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A5D186DD-FE9A-4FA1-81BE-A706AEDD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83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696" y="1209323"/>
            <a:ext cx="4023360" cy="479822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5512" y="1209323"/>
            <a:ext cx="4023360" cy="479822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57E9D436-DB72-443A-A3F7-568E3E1B5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2696" y="1689144"/>
            <a:ext cx="4023360" cy="292608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596DD69C-B1EE-4933-A096-57DBEC6784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5512" y="1689144"/>
            <a:ext cx="4023360" cy="292608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="" xmlns:a16="http://schemas.microsoft.com/office/drawing/2014/main" id="{0E2BD602-5002-4F07-9CA2-BCB88992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570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="" xmlns:a16="http://schemas.microsoft.com/office/drawing/2014/main" id="{47D0DE20-5617-40D3-873E-76243CAF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70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="" xmlns:a16="http://schemas.microsoft.com/office/drawing/2014/main" id="{6022EB07-E6F3-4338-9712-B7015326AB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3618" y="973715"/>
            <a:ext cx="8266176" cy="4976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="" xmlns:a16="http://schemas.microsoft.com/office/drawing/2014/main" id="{EFF3C22F-DD2C-4392-A8FD-A41DD0C8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251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657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2696" y="1206366"/>
            <a:ext cx="2975500" cy="342901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565FC8A0-D9E9-4789-8946-B9CE03915A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53838" y="1206366"/>
            <a:ext cx="5138928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7A7B19A5-0D51-46E1-B3F1-FD0EDA80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81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68576" y="189704"/>
            <a:ext cx="3566160" cy="4590288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A76B6978-6485-439D-AD54-7A389E3344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695" y="1206366"/>
            <a:ext cx="4937760" cy="3429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="" xmlns:a16="http://schemas.microsoft.com/office/drawing/2014/main" id="{ABAF0390-2346-4164-A8F9-C371FB59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5063704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422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="" xmlns:a16="http://schemas.microsoft.com/office/drawing/2014/main" id="{9CC3811F-B509-4FB4-B0B5-8CA7A14ACA5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22696" y="1398080"/>
            <a:ext cx="5204538" cy="3045571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DCB03E00-6FAB-4B6D-9F06-D391FB5545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6843" y="1398080"/>
            <a:ext cx="2739957" cy="3045572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96863" indent="0">
              <a:buFontTx/>
              <a:buNone/>
              <a:defRPr/>
            </a:lvl2pPr>
            <a:lvl3pPr marL="582613" indent="0">
              <a:buFontTx/>
              <a:buNone/>
              <a:defRPr/>
            </a:lvl3pPr>
            <a:lvl4pPr marL="923544" indent="0">
              <a:buFontTx/>
              <a:buNone/>
              <a:defRPr/>
            </a:lvl4pPr>
            <a:lvl5pPr marL="108585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="" xmlns:a16="http://schemas.microsoft.com/office/drawing/2014/main" id="{C3752BD2-4D22-4E2A-8E84-2C3B53C0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83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5585" y="1206635"/>
            <a:ext cx="4023360" cy="2066219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4662623" y="1206635"/>
            <a:ext cx="4024177" cy="2066219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9F258E50-8D5E-4B8F-9CA1-C4FB1FC48D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696" y="3495471"/>
            <a:ext cx="4023360" cy="1143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6E170CEE-ABEA-44A3-BED4-C68F1BBD8E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5512" y="3495471"/>
            <a:ext cx="4023360" cy="1143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="" xmlns:a16="http://schemas.microsoft.com/office/drawing/2014/main" id="{F1E05C4D-562D-449D-A24C-2BE8DC75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450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2696" y="1315131"/>
            <a:ext cx="2532888" cy="1667276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3291546" y="1315131"/>
            <a:ext cx="2532888" cy="1667276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6160397" y="1315131"/>
            <a:ext cx="2532888" cy="1667276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FB11DE16-1C9B-4EA2-A8FB-D58C9402E3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2696" y="3272855"/>
            <a:ext cx="2532888" cy="13716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="" xmlns:a16="http://schemas.microsoft.com/office/drawing/2014/main" id="{C395B1FD-2773-4FFA-90A2-8793CA61C8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91546" y="3272854"/>
            <a:ext cx="2532888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FE6BA450-3D89-422E-959A-2A80257D18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60397" y="3272854"/>
            <a:ext cx="2532888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="" xmlns:a16="http://schemas.microsoft.com/office/drawing/2014/main" id="{B4AFAE50-07D6-475D-AB11-4831C163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27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Statement Horizont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2695" y="1433208"/>
            <a:ext cx="2532888" cy="3200400"/>
          </a:xfrm>
        </p:spPr>
        <p:txBody>
          <a:bodyPr lIns="0">
            <a:normAutofit/>
          </a:bodyPr>
          <a:lstStyle>
            <a:lvl1pPr marL="91440" indent="-91440">
              <a:buSzPct val="25000"/>
              <a:buFont typeface="Calibri" pitchFamily="34" charset="0"/>
              <a:buChar char=" "/>
              <a:defRPr sz="1600" baseline="0"/>
            </a:lvl1pPr>
            <a:lvl2pPr marL="566928" indent="-27432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▷"/>
              <a:defRPr sz="1400"/>
            </a:lvl2pPr>
            <a:lvl3pPr marL="860425" indent="-27305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⨠"/>
              <a:defRPr sz="1200"/>
            </a:lvl3pPr>
            <a:lvl4pPr marL="731520" indent="-137160">
              <a:buClr>
                <a:schemeClr val="accent1"/>
              </a:buClr>
              <a:buFont typeface="Arial" pitchFamily="34" charset="0"/>
              <a:buNone/>
              <a:defRPr sz="1200"/>
            </a:lvl4pPr>
            <a:lvl5pPr marL="914400" indent="-137160">
              <a:buClr>
                <a:schemeClr val="tx1"/>
              </a:buClr>
              <a:buFont typeface="Calibri" pitchFamily="34" charset="0"/>
              <a:buChar char="&gt;"/>
              <a:defRPr sz="1200"/>
            </a:lvl5pPr>
            <a:lvl6pPr marL="1051560" indent="-137160">
              <a:buClr>
                <a:schemeClr val="accent1"/>
              </a:buClr>
              <a:buFont typeface="Arial" pitchFamily="34" charset="0"/>
              <a:buChar char="•"/>
              <a:defRPr sz="1200"/>
            </a:lvl6pPr>
            <a:lvl7pPr marL="1188720" indent="-137160">
              <a:buClr>
                <a:schemeClr val="tx1"/>
              </a:buClr>
              <a:buFont typeface="Calibri" pitchFamily="34" charset="0"/>
              <a:buChar char="&gt;"/>
              <a:defRPr sz="1200"/>
            </a:lvl7pPr>
            <a:lvl8pPr marL="1325880" indent="-137160">
              <a:buClr>
                <a:schemeClr val="accent1"/>
              </a:buClr>
              <a:buFont typeface="Arial" pitchFamily="34" charset="0"/>
              <a:buChar char="•"/>
              <a:defRPr sz="1200"/>
            </a:lvl8pPr>
            <a:lvl9pPr marL="1463040" indent="-137160">
              <a:buClr>
                <a:schemeClr val="tx1"/>
              </a:buClr>
              <a:buFont typeface="Calibri" pitchFamily="34" charset="0"/>
              <a:buChar char="&gt;"/>
              <a:defRPr sz="12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7945FAC-C6EA-41B2-B78F-22450C5E3DD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91546" y="1433208"/>
            <a:ext cx="2532888" cy="3200400"/>
          </a:xfrm>
        </p:spPr>
        <p:txBody>
          <a:bodyPr lIns="0">
            <a:normAutofit/>
          </a:bodyPr>
          <a:lstStyle>
            <a:lvl1pPr marL="91440" indent="-91440">
              <a:buSzPct val="25000"/>
              <a:buFont typeface="Calibri" pitchFamily="34" charset="0"/>
              <a:buChar char=" "/>
              <a:defRPr sz="1600" baseline="0"/>
            </a:lvl1pPr>
            <a:lvl2pPr marL="578358" indent="-28575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▷"/>
              <a:def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05840" indent="-27432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⨠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31520" indent="-137160">
              <a:buClr>
                <a:schemeClr val="accent1"/>
              </a:buClr>
              <a:buFont typeface="Arial" pitchFamily="34" charset="0"/>
              <a:buNone/>
              <a:defRPr sz="1200"/>
            </a:lvl4pPr>
            <a:lvl5pPr marL="914400" indent="-137160">
              <a:buClr>
                <a:schemeClr val="tx1"/>
              </a:buClr>
              <a:buFont typeface="Calibri" pitchFamily="34" charset="0"/>
              <a:buChar char="&gt;"/>
              <a:defRPr sz="1200"/>
            </a:lvl5pPr>
            <a:lvl6pPr marL="1051560" indent="-137160">
              <a:buClr>
                <a:schemeClr val="accent1"/>
              </a:buClr>
              <a:buFont typeface="Arial" pitchFamily="34" charset="0"/>
              <a:buChar char="•"/>
              <a:defRPr sz="1200"/>
            </a:lvl6pPr>
            <a:lvl7pPr marL="1188720" indent="-137160">
              <a:buClr>
                <a:schemeClr val="tx1"/>
              </a:buClr>
              <a:buFont typeface="Calibri" pitchFamily="34" charset="0"/>
              <a:buChar char="&gt;"/>
              <a:defRPr sz="1200"/>
            </a:lvl7pPr>
            <a:lvl8pPr marL="1325880" indent="-137160">
              <a:buClr>
                <a:schemeClr val="accent1"/>
              </a:buClr>
              <a:buFont typeface="Arial" pitchFamily="34" charset="0"/>
              <a:buChar char="•"/>
              <a:defRPr sz="1200"/>
            </a:lvl8pPr>
            <a:lvl9pPr marL="1463040" indent="-137160">
              <a:buClr>
                <a:schemeClr val="tx1"/>
              </a:buClr>
              <a:buFont typeface="Calibri" pitchFamily="34" charset="0"/>
              <a:buChar char="&gt;"/>
              <a:defRPr sz="12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marL="566928" lvl="1" indent="-27432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  <a:tabLst/>
            </a:pPr>
            <a:r>
              <a:rPr lang="en-US" dirty="0"/>
              <a:t>Second level</a:t>
            </a:r>
          </a:p>
          <a:p>
            <a:pPr marL="860425" lvl="2" indent="-27305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  <a:tabLst/>
            </a:pPr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4A8480CE-E49B-47A1-A5AA-412EAC9A3CFB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60397" y="1433208"/>
            <a:ext cx="2532888" cy="3200400"/>
          </a:xfrm>
        </p:spPr>
        <p:txBody>
          <a:bodyPr lIns="0">
            <a:normAutofit/>
          </a:bodyPr>
          <a:lstStyle>
            <a:lvl1pPr marL="91440" indent="-91440">
              <a:buSzPct val="25000"/>
              <a:buFont typeface="Calibri" pitchFamily="34" charset="0"/>
              <a:buChar char=" "/>
              <a:defRPr sz="1600" baseline="0"/>
            </a:lvl1pPr>
            <a:lvl2pPr marL="578358" indent="-285750"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Segoe UI Symbol" panose="020B0502040204020203" pitchFamily="34" charset="0"/>
              <a:buChar char="▷"/>
              <a:def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05840" indent="-274320">
              <a:spcBef>
                <a:spcPts val="3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Segoe UI Symbol" panose="020B0502040204020203" pitchFamily="34" charset="0"/>
              <a:buChar char="⨠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31520" indent="-137160">
              <a:buClr>
                <a:schemeClr val="accent1"/>
              </a:buClr>
              <a:buFont typeface="Arial" pitchFamily="34" charset="0"/>
              <a:buNone/>
              <a:defRPr sz="1200"/>
            </a:lvl4pPr>
            <a:lvl5pPr marL="914400" indent="-137160">
              <a:buClr>
                <a:schemeClr val="tx1"/>
              </a:buClr>
              <a:buFont typeface="Calibri" pitchFamily="34" charset="0"/>
              <a:buChar char="&gt;"/>
              <a:defRPr sz="1200"/>
            </a:lvl5pPr>
            <a:lvl6pPr marL="1051560" indent="-137160">
              <a:buClr>
                <a:schemeClr val="accent1"/>
              </a:buClr>
              <a:buFont typeface="Arial" pitchFamily="34" charset="0"/>
              <a:buChar char="•"/>
              <a:defRPr sz="1200"/>
            </a:lvl6pPr>
            <a:lvl7pPr marL="1188720" indent="-137160">
              <a:buClr>
                <a:schemeClr val="tx1"/>
              </a:buClr>
              <a:buFont typeface="Calibri" pitchFamily="34" charset="0"/>
              <a:buChar char="&gt;"/>
              <a:defRPr sz="1200"/>
            </a:lvl7pPr>
            <a:lvl8pPr marL="1325880" indent="-137160">
              <a:buClr>
                <a:schemeClr val="accent1"/>
              </a:buClr>
              <a:buFont typeface="Arial" pitchFamily="34" charset="0"/>
              <a:buChar char="•"/>
              <a:defRPr sz="1200"/>
            </a:lvl8pPr>
            <a:lvl9pPr marL="1463040" indent="-137160">
              <a:buClr>
                <a:schemeClr val="tx1"/>
              </a:buClr>
              <a:buFont typeface="Calibri" pitchFamily="34" charset="0"/>
              <a:buChar char="&gt;"/>
              <a:defRPr sz="12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marL="566928" lvl="1" indent="-27432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  <a:tabLst/>
            </a:pPr>
            <a:r>
              <a:rPr lang="en-US" dirty="0"/>
              <a:t>Second level</a:t>
            </a:r>
          </a:p>
          <a:p>
            <a:pPr marL="860425" lvl="2" indent="-27305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  <a:tabLst/>
            </a:pPr>
            <a:r>
              <a:rPr lang="en-US" dirty="0"/>
              <a:t>Third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="" xmlns:a16="http://schemas.microsoft.com/office/drawing/2014/main" id="{BF51C46C-825A-48E4-9F4B-2817A8251C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3618" y="993308"/>
            <a:ext cx="8266176" cy="4976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="" xmlns:a16="http://schemas.microsoft.com/office/drawing/2014/main" id="{3CF5972C-3D7A-479C-8CCA-EDCB8463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25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2629C59-6378-444D-B656-3B5C0A3CD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" y="180109"/>
            <a:ext cx="9146072" cy="4606637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="" xmlns:a16="http://schemas.microsoft.com/office/drawing/2014/main" id="{85D9BB0C-9CC9-4C40-919F-68C8D120ADAE}"/>
              </a:ext>
            </a:extLst>
          </p:cNvPr>
          <p:cNvSpPr txBox="1">
            <a:spLocks/>
          </p:cNvSpPr>
          <p:nvPr userDrawn="1"/>
        </p:nvSpPr>
        <p:spPr>
          <a:xfrm>
            <a:off x="533400" y="2093271"/>
            <a:ext cx="3889443" cy="9569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2800" b="0" i="0" kern="1200" spc="0" dirty="0">
                <a:solidFill>
                  <a:srgbClr val="0F4B8F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r>
              <a:rPr lang="en-US" sz="3600" b="0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30435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51460" y="951547"/>
            <a:ext cx="8229600" cy="368022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36826"/>
      </p:ext>
    </p:extLst>
  </p:cSld>
  <p:clrMapOvr>
    <a:masterClrMapping/>
  </p:clrMapOvr>
  <p:transition spd="med"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="" xmlns:a16="http://schemas.microsoft.com/office/drawing/2014/main" id="{2F72410A-E5E1-4DEC-A98B-FD862A0F1057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7023"/>
            <a:ext cx="9144000" cy="3667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2696" y="235090"/>
            <a:ext cx="8266176" cy="795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696" y="1206366"/>
            <a:ext cx="8266176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Picture 5" descr="A close up of a logo&#10;&#10;Description generated with very high confidence">
            <a:extLst>
              <a:ext uri="{FF2B5EF4-FFF2-40B4-BE49-F238E27FC236}">
                <a16:creationId xmlns="" xmlns:a16="http://schemas.microsoft.com/office/drawing/2014/main" id="{965F0B02-CB2F-4C47-BB99-D35009133A1D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87"/>
            <a:ext cx="9144000" cy="1905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="" xmlns:a16="http://schemas.microsoft.com/office/drawing/2014/main" id="{23F273D4-8F25-4774-B137-19744E72FE32}"/>
              </a:ext>
            </a:extLst>
          </p:cNvPr>
          <p:cNvSpPr txBox="1">
            <a:spLocks/>
          </p:cNvSpPr>
          <p:nvPr userDrawn="1"/>
        </p:nvSpPr>
        <p:spPr>
          <a:xfrm>
            <a:off x="7027817" y="4844222"/>
            <a:ext cx="17021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2019 Amkor Technology, Inc.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2A165758-2C14-44F2-AEFC-04EFD28FA319}"/>
              </a:ext>
            </a:extLst>
          </p:cNvPr>
          <p:cNvSpPr txBox="1">
            <a:spLocks/>
          </p:cNvSpPr>
          <p:nvPr userDrawn="1"/>
        </p:nvSpPr>
        <p:spPr>
          <a:xfrm>
            <a:off x="8487419" y="4844222"/>
            <a:ext cx="4898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700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5F8985-2E1C-4BB0-A401-60D501AAAF3C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94" y="4822181"/>
            <a:ext cx="731515" cy="2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1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19" r:id="rId2"/>
    <p:sldLayoutId id="2147483688" r:id="rId3"/>
    <p:sldLayoutId id="2147483689" r:id="rId4"/>
    <p:sldLayoutId id="2147483717" r:id="rId5"/>
    <p:sldLayoutId id="2147483664" r:id="rId6"/>
    <p:sldLayoutId id="2147483665" r:id="rId7"/>
    <p:sldLayoutId id="2147483684" r:id="rId8"/>
    <p:sldLayoutId id="2147483685" r:id="rId9"/>
    <p:sldLayoutId id="2147483666" r:id="rId10"/>
    <p:sldLayoutId id="2147483722" r:id="rId11"/>
    <p:sldLayoutId id="2147483686" r:id="rId12"/>
    <p:sldLayoutId id="2147483723" r:id="rId13"/>
    <p:sldLayoutId id="2147483720" r:id="rId14"/>
    <p:sldLayoutId id="2147483724" r:id="rId15"/>
    <p:sldLayoutId id="2147483721" r:id="rId16"/>
    <p:sldLayoutId id="2147483725" r:id="rId17"/>
    <p:sldLayoutId id="2147483673" r:id="rId18"/>
    <p:sldLayoutId id="2147483687" r:id="rId19"/>
    <p:sldLayoutId id="2147483667" r:id="rId20"/>
    <p:sldLayoutId id="2147483668" r:id="rId21"/>
    <p:sldLayoutId id="2147483669" r:id="rId22"/>
    <p:sldLayoutId id="2147483674" r:id="rId23"/>
    <p:sldLayoutId id="2147483670" r:id="rId24"/>
    <p:sldLayoutId id="2147483671" r:id="rId25"/>
    <p:sldLayoutId id="2147483683" r:id="rId26"/>
    <p:sldLayoutId id="2147483675" r:id="rId27"/>
    <p:sldLayoutId id="2147483676" r:id="rId28"/>
    <p:sldLayoutId id="2147483677" r:id="rId29"/>
    <p:sldLayoutId id="2147483678" r:id="rId30"/>
    <p:sldLayoutId id="2147483718" r:id="rId31"/>
    <p:sldLayoutId id="2147483726" r:id="rId32"/>
  </p:sldLayoutIdLst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spc="0" dirty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74320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▶"/>
        <a:defRPr lang="en-US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69913" indent="-273050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▷"/>
        <a:tabLst/>
        <a:defRPr lang="en-US" sz="18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5663" indent="-273050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⨠"/>
        <a:tabLst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52144" indent="-228600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–"/>
        <a:tabLst/>
        <a:defRPr lang="en-US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44752" indent="-228600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Segoe UI Symbol" panose="020B0502040204020203" pitchFamily="34" charset="0"/>
        <a:buChar char="▸"/>
        <a:defRPr lang="en-US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880" userDrawn="1">
          <p15:clr>
            <a:srgbClr val="FDE53C"/>
          </p15:clr>
        </p15:guide>
        <p15:guide id="3" orient="horz" pos="1620" userDrawn="1">
          <p15:clr>
            <a:srgbClr val="FDE53C"/>
          </p15:clr>
        </p15:guide>
        <p15:guide id="4" pos="5472" userDrawn="1">
          <p15:clr>
            <a:srgbClr val="F26B43"/>
          </p15:clr>
        </p15:guide>
        <p15:guide id="5" pos="336" userDrawn="1">
          <p15:clr>
            <a:srgbClr val="5ACBF0"/>
          </p15:clr>
        </p15:guide>
        <p15:guide id="6" pos="264" userDrawn="1">
          <p15:clr>
            <a:srgbClr val="F26B43"/>
          </p15:clr>
        </p15:guide>
        <p15:guide id="7" orient="horz" pos="756" userDrawn="1">
          <p15:clr>
            <a:srgbClr val="F26B43"/>
          </p15:clr>
        </p15:guide>
        <p15:guide id="8" orient="horz" pos="828" userDrawn="1">
          <p15:clr>
            <a:srgbClr val="5ACBF0"/>
          </p15:clr>
        </p15:guide>
        <p15:guide id="9" orient="horz" pos="564" userDrawn="1">
          <p15:clr>
            <a:srgbClr val="5ACBF0"/>
          </p15:clr>
        </p15:guide>
        <p15:guide id="10" orient="horz" pos="29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0" y="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0" y="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0" y="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/>
        </p:nvGraphicFramePr>
        <p:xfrm>
          <a:off x="0" y="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582" name="Rectangle 8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 altLang="en-US">
              <a:ea typeface="+mn-ea"/>
              <a:cs typeface="Arial" charset="0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="" xmlns:a16="http://schemas.microsoft.com/office/drawing/2014/main" id="{16622DE2-7347-4F83-953F-23497E2025E1}"/>
              </a:ext>
            </a:extLst>
          </p:cNvPr>
          <p:cNvSpPr txBox="1">
            <a:spLocks/>
          </p:cNvSpPr>
          <p:nvPr/>
        </p:nvSpPr>
        <p:spPr>
          <a:xfrm>
            <a:off x="62992" y="214619"/>
            <a:ext cx="9018015" cy="369332"/>
          </a:xfrm>
          <a:prstGeom prst="rect">
            <a:avLst/>
          </a:prstGeom>
        </p:spPr>
        <p:txBody>
          <a:bodyPr vert="horz" lIns="91438" tIns="45719" rIns="91438" bIns="45719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000" b="0" kern="1200" spc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1800" dirty="0" smtClean="0"/>
              <a:t>KIOXIA Micro </a:t>
            </a:r>
            <a:r>
              <a:rPr lang="en-US" altLang="zh-CN" sz="1800" dirty="0"/>
              <a:t>SD FT1 Result Bin </a:t>
            </a:r>
            <a:r>
              <a:rPr lang="en-US" altLang="zh-CN" sz="1800" dirty="0" err="1"/>
              <a:t>Qty</a:t>
            </a:r>
            <a:r>
              <a:rPr lang="en-US" altLang="zh-CN" sz="1800" dirty="0"/>
              <a:t> NG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0" y="1601310"/>
            <a:ext cx="8881353" cy="303247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74320" indent="-274320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75000"/>
              <a:buFont typeface="Segoe UI Symbol" panose="020B0502040204020203" pitchFamily="34" charset="0"/>
              <a:buChar char="▶"/>
              <a:defRPr lang="en-US"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40080" lvl="1" indent="-274320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75000"/>
              <a:buFont typeface="Segoe UI Symbol" panose="020B0502040204020203" pitchFamily="34" charset="0"/>
              <a:buChar char="▷"/>
              <a:defRPr lang="en-US"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05840" indent="-274320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75000"/>
              <a:buFont typeface="Segoe UI Symbol" panose="020B0502040204020203" pitchFamily="34" charset="0"/>
              <a:buChar char="⨠"/>
              <a:tabLst/>
              <a:defRPr lang="en-US"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274320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75000"/>
              <a:buFont typeface="Segoe UI Symbol" panose="020B0502040204020203" pitchFamily="34" charset="0"/>
              <a:buChar char="–"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038" indent="-231775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»"/>
              <a:defRPr lang="en-US"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defTabSz="685783">
              <a:buClr>
                <a:srgbClr val="0F4B8F">
                  <a:lumMod val="75000"/>
                </a:srgbClr>
              </a:buClr>
            </a:pPr>
            <a:r>
              <a:rPr altLang="zh-CN" sz="1400" b="1" dirty="0">
                <a:solidFill>
                  <a:srgbClr val="464D5A"/>
                </a:solidFill>
              </a:rPr>
              <a:t>Problem Description </a:t>
            </a:r>
            <a:endParaRPr altLang="zh-CN" sz="1400" b="1" dirty="0" smtClean="0">
              <a:solidFill>
                <a:srgbClr val="464D5A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200" dirty="0"/>
              <a:t>C</a:t>
            </a:r>
            <a:r>
              <a:rPr lang="en-US" altLang="zh-CN" sz="1200" dirty="0" smtClean="0"/>
              <a:t>ustomer </a:t>
            </a:r>
            <a:r>
              <a:rPr lang="en-US" altLang="zh-CN" sz="1200" dirty="0"/>
              <a:t>reported that the </a:t>
            </a:r>
            <a:r>
              <a:rPr lang="en-US" altLang="zh-CN" sz="1200" dirty="0" smtClean="0"/>
              <a:t>result </a:t>
            </a:r>
            <a:r>
              <a:rPr lang="en-US" altLang="zh-CN" sz="1200" dirty="0"/>
              <a:t>of TCT and FT1 </a:t>
            </a:r>
            <a:r>
              <a:rPr lang="en-US" altLang="zh-CN" sz="1200" dirty="0" smtClean="0"/>
              <a:t>bin </a:t>
            </a:r>
            <a:r>
              <a:rPr lang="en-US" altLang="zh-CN" sz="1200" dirty="0" err="1" smtClean="0"/>
              <a:t>Qty</a:t>
            </a:r>
            <a:r>
              <a:rPr lang="en-US" altLang="zh-CN" sz="1200" dirty="0" smtClean="0"/>
              <a:t> were </a:t>
            </a:r>
            <a:r>
              <a:rPr lang="en-US" altLang="zh-CN" sz="1200" dirty="0" err="1" smtClean="0"/>
              <a:t>unmatch</a:t>
            </a:r>
            <a:r>
              <a:rPr lang="en-US" altLang="zh-CN" sz="1200" dirty="0" smtClean="0"/>
              <a:t>,</a:t>
            </a:r>
          </a:p>
          <a:p>
            <a:pPr marL="365760" lvl="1" indent="0">
              <a:buNone/>
            </a:pPr>
            <a:r>
              <a:rPr lang="ja-JP" altLang="en-US" sz="1200" dirty="0" smtClean="0"/>
              <a:t>　　</a:t>
            </a:r>
            <a:r>
              <a:rPr lang="en-US" altLang="ja-JP" sz="1200" dirty="0"/>
              <a:t> </a:t>
            </a:r>
            <a:r>
              <a:rPr lang="en-US" altLang="ja-JP" sz="1200" dirty="0" smtClean="0"/>
              <a:t> </a:t>
            </a:r>
            <a:r>
              <a:rPr lang="en-US" altLang="zh-CN" sz="1200" dirty="0" smtClean="0"/>
              <a:t>then </a:t>
            </a:r>
            <a:r>
              <a:rPr lang="en-US" altLang="zh-CN" sz="1200" dirty="0"/>
              <a:t>we confirmed </a:t>
            </a:r>
            <a:r>
              <a:rPr lang="en-US" altLang="zh-CN" sz="1200" dirty="0" smtClean="0"/>
              <a:t>the </a:t>
            </a:r>
            <a:r>
              <a:rPr lang="en-US" altLang="zh-CN" sz="1200" dirty="0"/>
              <a:t>history found that </a:t>
            </a:r>
            <a:r>
              <a:rPr lang="en-US" altLang="zh-CN" sz="1200" dirty="0" smtClean="0"/>
              <a:t>PE provided wrong FT1 </a:t>
            </a:r>
            <a:r>
              <a:rPr lang="en-US" altLang="zh-CN" sz="1200" dirty="0" smtClean="0"/>
              <a:t>test result</a:t>
            </a:r>
            <a:endParaRPr lang="en-US" altLang="zh-CN" sz="1200" dirty="0">
              <a:solidFill>
                <a:srgbClr val="464D5A"/>
              </a:solidFill>
            </a:endParaRPr>
          </a:p>
          <a:p>
            <a:pPr defTabSz="685783">
              <a:buClr>
                <a:srgbClr val="0F4B8F">
                  <a:lumMod val="75000"/>
                </a:srgbClr>
              </a:buClr>
            </a:pPr>
            <a:r>
              <a:rPr lang="en-US" altLang="zh-CN" sz="1400" b="1" dirty="0" smtClean="0">
                <a:solidFill>
                  <a:srgbClr val="464D5A"/>
                </a:solidFill>
              </a:rPr>
              <a:t>Possible Root </a:t>
            </a:r>
            <a:r>
              <a:rPr lang="en-US" altLang="zh-CN" sz="1400" b="1" dirty="0" smtClean="0">
                <a:solidFill>
                  <a:srgbClr val="464D5A"/>
                </a:solidFill>
              </a:rPr>
              <a:t>Cause</a:t>
            </a:r>
            <a:endParaRPr lang="en-US" altLang="zh-CN" sz="1400" b="1" dirty="0">
              <a:solidFill>
                <a:srgbClr val="464D5A"/>
              </a:solidFill>
            </a:endParaRPr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altLang="zh-CN" sz="1100" dirty="0" smtClean="0"/>
              <a:t>Yield </a:t>
            </a:r>
            <a:r>
              <a:rPr lang="en-US" altLang="zh-CN" sz="1100" dirty="0"/>
              <a:t>report is filled out manually </a:t>
            </a:r>
            <a:r>
              <a:rPr lang="en-US" altLang="zh-CN" sz="1100" dirty="0" smtClean="0"/>
              <a:t>instead of get through </a:t>
            </a:r>
            <a:r>
              <a:rPr lang="en-US" altLang="zh-CN" sz="1100" dirty="0"/>
              <a:t>the </a:t>
            </a:r>
            <a:r>
              <a:rPr lang="en-US" altLang="zh-CN" sz="1100" dirty="0" smtClean="0"/>
              <a:t>system</a:t>
            </a:r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altLang="zh-CN" sz="1100" dirty="0" smtClean="0"/>
              <a:t>PE </a:t>
            </a:r>
            <a:r>
              <a:rPr lang="en-US" altLang="zh-CN" sz="1100" dirty="0"/>
              <a:t>didn’t filled in The Special </a:t>
            </a:r>
            <a:r>
              <a:rPr lang="en-US" altLang="zh-CN" sz="1100"/>
              <a:t>t-card </a:t>
            </a:r>
            <a:r>
              <a:rPr lang="en-US" altLang="zh-CN" sz="1100" smtClean="0"/>
              <a:t>Sheet </a:t>
            </a:r>
            <a:endParaRPr lang="en-US" altLang="zh-CN" sz="1100" dirty="0"/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sz="1100" dirty="0" smtClean="0">
                <a:latin typeface="+mj-lt"/>
              </a:rPr>
              <a:t>PE </a:t>
            </a:r>
            <a:r>
              <a:rPr lang="en-US" sz="1100" dirty="0" smtClean="0">
                <a:latin typeface="+mj-lt"/>
              </a:rPr>
              <a:t>didn’t </a:t>
            </a:r>
            <a:r>
              <a:rPr lang="en-US" sz="1100" dirty="0">
                <a:latin typeface="+mj-lt"/>
              </a:rPr>
              <a:t>confirm the </a:t>
            </a:r>
            <a:r>
              <a:rPr lang="en-US" sz="1100" dirty="0" err="1" smtClean="0">
                <a:latin typeface="+mj-lt"/>
              </a:rPr>
              <a:t>Qty</a:t>
            </a:r>
            <a:r>
              <a:rPr lang="en-US" sz="1100" dirty="0" smtClean="0">
                <a:latin typeface="+mj-lt"/>
              </a:rPr>
              <a:t> </a:t>
            </a:r>
            <a:r>
              <a:rPr lang="en-US" sz="1100" dirty="0">
                <a:latin typeface="+mj-lt"/>
              </a:rPr>
              <a:t>when taking </a:t>
            </a:r>
            <a:r>
              <a:rPr lang="en-US" sz="1100" dirty="0" smtClean="0">
                <a:latin typeface="+mj-lt"/>
              </a:rPr>
              <a:t>units </a:t>
            </a:r>
            <a:r>
              <a:rPr lang="en-US" sz="1100" dirty="0">
                <a:latin typeface="+mj-lt"/>
              </a:rPr>
              <a:t>from the </a:t>
            </a:r>
            <a:r>
              <a:rPr lang="en-US" sz="1100" dirty="0" smtClean="0">
                <a:latin typeface="+mj-lt"/>
              </a:rPr>
              <a:t>line</a:t>
            </a:r>
            <a:r>
              <a:rPr lang="en-US" sz="1100" dirty="0">
                <a:latin typeface="+mj-lt"/>
              </a:rPr>
              <a:t>, and FA </a:t>
            </a:r>
            <a:r>
              <a:rPr lang="en-US" sz="1100" dirty="0" smtClean="0">
                <a:latin typeface="+mj-lt"/>
              </a:rPr>
              <a:t>didn’t </a:t>
            </a:r>
            <a:r>
              <a:rPr lang="en-US" sz="1100" dirty="0">
                <a:latin typeface="+mj-lt"/>
              </a:rPr>
              <a:t>confirm the </a:t>
            </a:r>
            <a:r>
              <a:rPr lang="en-US" sz="1100" dirty="0" err="1" smtClean="0">
                <a:latin typeface="+mj-lt"/>
              </a:rPr>
              <a:t>Qty</a:t>
            </a:r>
            <a:r>
              <a:rPr lang="en-US" sz="1100" dirty="0" smtClean="0">
                <a:latin typeface="+mj-lt"/>
              </a:rPr>
              <a:t> </a:t>
            </a:r>
            <a:r>
              <a:rPr lang="en-US" sz="1100" dirty="0">
                <a:latin typeface="+mj-lt"/>
              </a:rPr>
              <a:t>when starting </a:t>
            </a:r>
            <a:r>
              <a:rPr lang="en-US" sz="1100" dirty="0" smtClean="0">
                <a:latin typeface="+mj-lt"/>
              </a:rPr>
              <a:t>TCT</a:t>
            </a:r>
            <a:endParaRPr lang="en-US" sz="1100" dirty="0">
              <a:latin typeface="+mj-lt"/>
            </a:endParaRPr>
          </a:p>
          <a:p>
            <a:pPr defTabSz="685783">
              <a:buClr>
                <a:srgbClr val="0F4B8F">
                  <a:lumMod val="75000"/>
                </a:srgbClr>
              </a:buClr>
            </a:pPr>
            <a:r>
              <a:rPr lang="en-US" altLang="zh-CN" sz="1400" b="1" dirty="0" smtClean="0">
                <a:solidFill>
                  <a:srgbClr val="464D5A"/>
                </a:solidFill>
              </a:rPr>
              <a:t>Actions </a:t>
            </a:r>
            <a:r>
              <a:rPr lang="en-US" altLang="zh-CN" sz="1400" b="1" dirty="0">
                <a:solidFill>
                  <a:srgbClr val="464D5A"/>
                </a:solidFill>
              </a:rPr>
              <a:t>&amp; lot disposition</a:t>
            </a:r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j-lt"/>
              </a:rPr>
              <a:t>From now on, </a:t>
            </a:r>
            <a:r>
              <a:rPr lang="en-US" altLang="zh-CN" sz="1100" dirty="0" smtClean="0">
                <a:latin typeface="+mj-lt"/>
              </a:rPr>
              <a:t>yield report must </a:t>
            </a:r>
            <a:r>
              <a:rPr lang="en-US" altLang="zh-CN" sz="1100" dirty="0">
                <a:latin typeface="+mj-lt"/>
              </a:rPr>
              <a:t>be </a:t>
            </a:r>
            <a:r>
              <a:rPr lang="en-US" altLang="zh-CN" sz="1100" dirty="0" smtClean="0">
                <a:latin typeface="+mj-lt"/>
              </a:rPr>
              <a:t>catch from system.(</a:t>
            </a:r>
            <a:r>
              <a:rPr lang="en-US" altLang="zh-CN" sz="1100" dirty="0" err="1" smtClean="0">
                <a:latin typeface="+mj-lt"/>
              </a:rPr>
              <a:t>Owner:PE</a:t>
            </a:r>
            <a:r>
              <a:rPr lang="en-US" altLang="zh-CN" sz="1100" dirty="0" smtClean="0">
                <a:latin typeface="+mj-lt"/>
              </a:rPr>
              <a:t>  Due date:WW50’19)</a:t>
            </a:r>
            <a:endParaRPr lang="en-US" altLang="zh-CN" sz="1100" dirty="0">
              <a:latin typeface="+mj-lt"/>
            </a:endParaRPr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j-lt"/>
              </a:rPr>
              <a:t>FA cannot be done without Special t-card </a:t>
            </a:r>
            <a:r>
              <a:rPr lang="en-US" altLang="zh-CN" sz="1100" dirty="0" smtClean="0">
                <a:latin typeface="+mj-lt"/>
              </a:rPr>
              <a:t>Sheet.</a:t>
            </a:r>
            <a:r>
              <a:rPr lang="en-US" altLang="zh-CN" sz="1100" dirty="0" smtClean="0"/>
              <a:t>(</a:t>
            </a:r>
            <a:r>
              <a:rPr lang="en-US" altLang="zh-CN" sz="1100" dirty="0" err="1" smtClean="0"/>
              <a:t>Owner:PE,FA</a:t>
            </a:r>
            <a:r>
              <a:rPr lang="en-US" altLang="zh-CN" sz="1100" dirty="0" smtClean="0"/>
              <a:t>  </a:t>
            </a:r>
            <a:r>
              <a:rPr lang="en-US" altLang="zh-CN" sz="1100" dirty="0"/>
              <a:t>Due date:WW50’19</a:t>
            </a:r>
            <a:r>
              <a:rPr lang="en-US" altLang="zh-CN" sz="1100" dirty="0" smtClean="0"/>
              <a:t>)</a:t>
            </a:r>
          </a:p>
          <a:p>
            <a:pPr lvl="1" defTabSz="685783">
              <a:buClr>
                <a:srgbClr val="0F4B8F">
                  <a:lumMod val="75000"/>
                </a:srgbClr>
              </a:buClr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j-lt"/>
              </a:rPr>
              <a:t>The </a:t>
            </a:r>
            <a:r>
              <a:rPr lang="en-US" altLang="zh-CN" sz="1100" dirty="0" err="1" smtClean="0">
                <a:latin typeface="+mj-lt"/>
              </a:rPr>
              <a:t>Qty</a:t>
            </a:r>
            <a:r>
              <a:rPr lang="en-US" altLang="zh-CN" sz="1100" dirty="0" smtClean="0">
                <a:latin typeface="+mj-lt"/>
              </a:rPr>
              <a:t> </a:t>
            </a:r>
            <a:r>
              <a:rPr lang="en-US" altLang="zh-CN" sz="1100" dirty="0">
                <a:latin typeface="+mj-lt"/>
              </a:rPr>
              <a:t>must be confirmed and filled in the Special t-card </a:t>
            </a:r>
            <a:r>
              <a:rPr lang="en-US" altLang="zh-CN" sz="1100" dirty="0" smtClean="0">
                <a:latin typeface="+mj-lt"/>
              </a:rPr>
              <a:t>Sheet.</a:t>
            </a:r>
            <a:r>
              <a:rPr lang="en-US" altLang="zh-CN" sz="1100" dirty="0"/>
              <a:t> .(</a:t>
            </a:r>
            <a:r>
              <a:rPr lang="en-US" altLang="zh-CN" sz="1100" dirty="0" err="1"/>
              <a:t>Owner:PE,FA</a:t>
            </a:r>
            <a:r>
              <a:rPr lang="en-US" altLang="zh-CN" sz="1100" dirty="0"/>
              <a:t>  Due date:WW50’19</a:t>
            </a:r>
            <a:r>
              <a:rPr lang="en-US" altLang="zh-CN" sz="1100" dirty="0" smtClean="0"/>
              <a:t>)</a:t>
            </a:r>
            <a:endParaRPr lang="en-US" altLang="zh-CN" sz="1100" dirty="0">
              <a:latin typeface="+mj-lt"/>
            </a:endParaRPr>
          </a:p>
          <a:p>
            <a:pPr lvl="1" defTabSz="685783">
              <a:buClr>
                <a:srgbClr val="0F4B8F">
                  <a:lumMod val="75000"/>
                </a:srgbClr>
              </a:buClr>
            </a:pPr>
            <a:endParaRPr lang="en-US" sz="700" dirty="0">
              <a:latin typeface="+mj-lt"/>
            </a:endParaRPr>
          </a:p>
          <a:p>
            <a:pPr marL="731520" lvl="2" indent="0" defTabSz="685783">
              <a:buClr>
                <a:srgbClr val="0F4B8F">
                  <a:lumMod val="75000"/>
                </a:srgbClr>
              </a:buClr>
              <a:buNone/>
            </a:pPr>
            <a:endParaRPr lang="en-US" sz="1000" dirty="0"/>
          </a:p>
        </p:txBody>
      </p:sp>
      <p:graphicFrame>
        <p:nvGraphicFramePr>
          <p:cNvPr id="10" name="Group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86079"/>
              </p:ext>
            </p:extLst>
          </p:nvPr>
        </p:nvGraphicFramePr>
        <p:xfrm>
          <a:off x="109218" y="574603"/>
          <a:ext cx="8866980" cy="776466"/>
        </p:xfrm>
        <a:graphic>
          <a:graphicData uri="http://schemas.openxmlformats.org/drawingml/2006/table">
            <a:tbl>
              <a:tblPr/>
              <a:tblGrid>
                <a:gridCol w="1004903"/>
                <a:gridCol w="825632"/>
                <a:gridCol w="899084"/>
                <a:gridCol w="1577811"/>
                <a:gridCol w="937471"/>
                <a:gridCol w="892459"/>
                <a:gridCol w="724745"/>
                <a:gridCol w="2004875"/>
              </a:tblGrid>
              <a:tr h="34974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Customer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KIOXIA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P/D/L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0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RT/SB/008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M</a:t>
                      </a: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M/D,W,S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굴림" pitchFamily="34" charset="-127"/>
                          <a:cs typeface="Arial" charset="0"/>
                        </a:rPr>
                        <a:t>12/09/2019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Lot #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PV0399 PV0400 PV0401 PV0398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8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M</a:t>
                      </a:r>
                      <a:r>
                        <a:rPr kumimoji="0" lang="en-US" altLang="zh-CN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icro</a:t>
                      </a:r>
                      <a:r>
                        <a:rPr kumimoji="0" lang="en-US" altLang="zh-CN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 SD </a:t>
                      </a:r>
                      <a:r>
                        <a:rPr kumimoji="0" lang="de-DE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FT1 Result Bin Qty NG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Defect Ratio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ja-JP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굴림" pitchFamily="34" charset="-127"/>
                          <a:cs typeface="+mn-cs"/>
                        </a:rPr>
                        <a:t>PV0399 PV0400 PV0401 PV0398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굴림" pitchFamily="34" charset="-127"/>
                        </a:rPr>
                        <a:t>Status#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4686"/>
                        </a:buClr>
                        <a:buSzPct val="11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SimSun" pitchFamily="2" charset="-122"/>
                          <a:cs typeface="+mn-cs"/>
                        </a:rPr>
                        <a:t>Hold after FT1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913022"/>
      </p:ext>
    </p:extLst>
  </p:cSld>
  <p:clrMapOvr>
    <a:masterClrMapping/>
  </p:clrMapOvr>
  <p:transition spd="med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2018_External-AmkorCorpTemplate">
  <a:themeElements>
    <a:clrScheme name="Amkor 2018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0F4B8F"/>
      </a:hlink>
      <a:folHlink>
        <a:srgbClr val="464D5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rmAutofit/>
      </a:bodyPr>
      <a:lstStyle>
        <a:defPPr marL="228600" indent="-228600" algn="l">
          <a:buClr>
            <a:schemeClr val="bg1"/>
          </a:buClr>
          <a:buSzPct val="75000"/>
          <a:buFont typeface="Segoe UI Symbol" panose="020B0502040204020203" pitchFamily="34" charset="0"/>
          <a:buChar char="▶"/>
          <a:defRPr sz="18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287338" indent="-287338" algn="l">
          <a:buClr>
            <a:schemeClr val="accent1"/>
          </a:buClr>
          <a:buSzPct val="75000"/>
          <a:buFont typeface="Segoe UI Symbol" panose="020B0502040204020203" pitchFamily="34" charset="0"/>
          <a:buChar char="▶"/>
          <a:defRPr sz="2000" dirty="0" err="1" smtClean="0">
            <a:latin typeface="Arial" panose="020B0604020202020204" pitchFamily="34" charset="0"/>
            <a:ea typeface="Verdana" panose="020B060403050404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0B88FC1E-214D-403B-9B34-5BC5E035B02E}" vid="{62BAE764-E89A-45B8-B5B2-40C8EAA4E3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2019-External_Amkor-Corporate_Template</Template>
  <TotalTime>2929</TotalTime>
  <Words>59</Words>
  <Application>Microsoft Office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굴림</vt:lpstr>
      <vt:lpstr>맑은 고딕</vt:lpstr>
      <vt:lpstr>ＭＳ Ｐゴシック</vt:lpstr>
      <vt:lpstr>黑体</vt:lpstr>
      <vt:lpstr>宋体</vt:lpstr>
      <vt:lpstr>宋体</vt:lpstr>
      <vt:lpstr>Arial</vt:lpstr>
      <vt:lpstr>Calibri</vt:lpstr>
      <vt:lpstr>Open Sans Light</vt:lpstr>
      <vt:lpstr>Segoe UI</vt:lpstr>
      <vt:lpstr>Segoe UI Symbol</vt:lpstr>
      <vt:lpstr>Tahoma</vt:lpstr>
      <vt:lpstr>Verdana</vt:lpstr>
      <vt:lpstr>Wingdings</vt:lpstr>
      <vt:lpstr>122018_External-AmkorCorpTemplate</vt:lpstr>
      <vt:lpstr>PowerPoint Presentation</vt:lpstr>
    </vt:vector>
  </TitlesOfParts>
  <Company>Amkor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Training</dc:subject>
  <dc:creator>Shilv Lu</dc:creator>
  <cp:lastModifiedBy>Hongbin Sun</cp:lastModifiedBy>
  <cp:revision>284</cp:revision>
  <dcterms:created xsi:type="dcterms:W3CDTF">2019-01-17T13:00:11Z</dcterms:created>
  <dcterms:modified xsi:type="dcterms:W3CDTF">2019-12-11T09:21:10Z</dcterms:modified>
</cp:coreProperties>
</file>